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521" r:id="rId3"/>
    <p:sldId id="2147377896" r:id="rId4"/>
    <p:sldId id="259" r:id="rId5"/>
    <p:sldId id="260" r:id="rId6"/>
    <p:sldId id="2147377897" r:id="rId7"/>
    <p:sldId id="265" r:id="rId8"/>
    <p:sldId id="266" r:id="rId9"/>
    <p:sldId id="2147377898" r:id="rId10"/>
    <p:sldId id="267" r:id="rId11"/>
    <p:sldId id="268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50002-14EA-47B5-A03E-A1DBD0C3B6F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2083D-3487-435E-8029-5E744C8D56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2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D505-3F00-7737-F62B-6A845F8D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>
            <a:extLst>
              <a:ext uri="{FF2B5EF4-FFF2-40B4-BE49-F238E27FC236}">
                <a16:creationId xmlns:a16="http://schemas.microsoft.com/office/drawing/2014/main" id="{F61FDDC8-1748-95B8-71C3-DD2F6E75E9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Espace réservé des commentaires 2">
            <a:extLst>
              <a:ext uri="{FF2B5EF4-FFF2-40B4-BE49-F238E27FC236}">
                <a16:creationId xmlns:a16="http://schemas.microsoft.com/office/drawing/2014/main" id="{D72B8857-DEC5-CD7A-D4F3-EBE95F4DA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/>
          </a:p>
        </p:txBody>
      </p:sp>
      <p:sp>
        <p:nvSpPr>
          <p:cNvPr id="44036" name="Espace réservé du numéro de diapositive 3">
            <a:extLst>
              <a:ext uri="{FF2B5EF4-FFF2-40B4-BE49-F238E27FC236}">
                <a16:creationId xmlns:a16="http://schemas.microsoft.com/office/drawing/2014/main" id="{D3EBBFB0-1ABE-F4CD-EA8D-E6FA38CD3508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380538"/>
            <a:ext cx="29464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824" tIns="45912" rIns="91824" bIns="45912" anchor="b"/>
          <a:lstStyle/>
          <a:p>
            <a:pPr marL="0" marR="0" lvl="0" indent="0" algn="r" defTabSz="9175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C5BE1A-5F8C-44E3-8BC7-DFA8E5374DA5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75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3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hyperlink" Target="https://nealanalytics.com/creative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hyperlink" Target="http://www.nealanalytics.com/neal-creative/templates/" TargetMode="Externa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ealanalytics.com/neal-creative/templates/" TargetMode="Externa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hyperlink" Target="https://nealanalytics.com/creative/" TargetMode="External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www.nealanalytics.com/neal-creative/templates/" TargetMode="Externa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D1E6EC-59F2-0547-0D4E-FADB54F6A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9388DE-D3BF-4FDC-39BF-F230F2293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EBE5E0-119C-E95A-183D-647615729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3AA406-152C-D185-96DD-DE9DD0C5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2967E2-401A-10A3-0677-2B33AFA2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87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78173-DC97-6896-B695-5E9D288DB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5387DC-1FA9-D52A-0783-100B3B906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DABC90-05A8-0158-672C-13C3D6413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E1DFC6-5C1B-0666-139F-BF739829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36A13C-9CFA-5671-455B-C494D235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6530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604FB7-6667-DEB4-480C-C3A0B497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C6AEE2-EB77-A141-DECC-26BC5FECF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AAA4E3-F469-D804-2731-4BF36DE0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4B46E0-C5D7-F84B-FA81-F41D82B2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11D913-389A-1D85-0EF9-C16E2C39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11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6FF2C3-D22B-DE02-0E2A-55B06BCEF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CE5C17-32D8-9066-2EC0-807C768FF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19B704-47C0-0CCF-58D1-A51CEA8D3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56B3BF-96AF-B5B5-1DC0-1E394E51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2E021F-D474-B4A8-B4CA-4FFBD7F09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67EE7F-FF24-5459-6362-6F91F40D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55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43C9E5-F81B-04D8-7EA6-DEFF4B429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405FAA-4BAD-D175-AB6C-9A6A857B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25EEE7-EB19-777C-5DFF-9E6C99C57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671EEE7-54AE-5105-D819-C4236CDE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34CF12C-7D2D-84F3-191B-ED64F9D88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3DE3723-1D1F-6ACF-AC25-D9A6FBD84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11EC076-964E-28B8-7EC1-69EF491A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4693F5E-60E3-1A8A-787A-919CE1F2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887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B01DDB-62CF-A520-FA1B-4EB93AC71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821466D-FB54-4B3D-99D6-17C32C10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441A50-DF53-644C-663D-B22C3410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973E108-0510-E6F6-4A3F-B7095774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0517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AE59AE-A43B-B542-266F-4D07A2AF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9BF2DDF-5324-F2D4-C5A8-5F281214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B6A1E3-481C-3338-BAAC-F96FB198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539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6786FC-37A3-2E13-D153-CC258511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304F33-C833-C4A2-E6F6-3019C2DD4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CA9450-4485-3A46-5B22-F4D5AA8A7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32C459-F206-422C-BFCF-1E09544B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2433FA-09AD-93CB-AE7A-CA923F0F1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56214E-630A-D0F4-0CCC-9D3BE29B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66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D5F19E-EF84-B291-E167-AEE50E652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412B05C-B2C6-0B28-53CE-FFEA8A3EB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585BEA-598A-DD61-C963-AA43A5149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DF72FA-70F8-CCB8-2D66-A6657D7D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6E5FB0-0F43-A50C-686E-5873516D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C87A43-D995-332C-880F-9437205E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153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1406C-3062-268A-A198-4593C9D1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A917FBA-ED41-EBC3-D90E-BDC11B860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20B1D9-1224-C306-A147-C0646208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21A76B-BAD0-5DC8-BD6C-EE3BA07B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AC4757-4B26-3E69-D55B-EFAA5FC9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112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9394E3A-D238-72DF-04FA-3627A88DB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0C91B7-2491-F070-5C9A-64D367427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5869A9-2E32-EEF9-74D1-86E0960E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AD7A34-F8B5-AF28-1039-E90A669C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CC53CC-AE88-B757-FF7A-E4137439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913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_TITLE OU TRANSI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e 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Ovale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e 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Ovale 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219939" y="2240230"/>
            <a:ext cx="9107555" cy="2308324"/>
          </a:xfrm>
          <a:prstGeom prst="rect">
            <a:avLst/>
          </a:prstGeom>
          <a:noFill/>
        </p:spPr>
        <p:txBody>
          <a:bodyPr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rtl="0"/>
            <a:r>
              <a:rPr lang="fr-FR" noProof="0"/>
              <a:t>CLIQUEZ POUR MODIFIER LE TITRE</a:t>
            </a:r>
          </a:p>
        </p:txBody>
      </p:sp>
    </p:spTree>
    <p:extLst>
      <p:ext uri="{BB962C8B-B14F-4D97-AF65-F5344CB8AC3E}">
        <p14:creationId xmlns:p14="http://schemas.microsoft.com/office/powerpoint/2010/main" val="3958040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ÉPARATEUR de SECTION avec numé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e libre : Forme 18"/>
          <p:cNvSpPr/>
          <p:nvPr userDrawn="1"/>
        </p:nvSpPr>
        <p:spPr>
          <a:xfrm>
            <a:off x="3803737" y="-65233"/>
            <a:ext cx="4584526" cy="2297766"/>
          </a:xfrm>
          <a:custGeom>
            <a:avLst/>
            <a:gdLst>
              <a:gd name="connsiteX0" fmla="*/ 278 w 4584526"/>
              <a:gd name="connsiteY0" fmla="*/ 0 h 2297766"/>
              <a:gd name="connsiteX1" fmla="*/ 4584248 w 4584526"/>
              <a:gd name="connsiteY1" fmla="*/ 0 h 2297766"/>
              <a:gd name="connsiteX2" fmla="*/ 4584526 w 4584526"/>
              <a:gd name="connsiteY2" fmla="*/ 5503 h 2297766"/>
              <a:gd name="connsiteX3" fmla="*/ 2292263 w 4584526"/>
              <a:gd name="connsiteY3" fmla="*/ 2297766 h 2297766"/>
              <a:gd name="connsiteX4" fmla="*/ 0 w 4584526"/>
              <a:gd name="connsiteY4" fmla="*/ 5503 h 229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4526" h="2297766">
                <a:moveTo>
                  <a:pt x="278" y="0"/>
                </a:moveTo>
                <a:lnTo>
                  <a:pt x="4584248" y="0"/>
                </a:lnTo>
                <a:lnTo>
                  <a:pt x="4584526" y="5503"/>
                </a:lnTo>
                <a:cubicBezTo>
                  <a:pt x="4584526" y="1271485"/>
                  <a:pt x="3558245" y="2297766"/>
                  <a:pt x="2292263" y="2297766"/>
                </a:cubicBezTo>
                <a:cubicBezTo>
                  <a:pt x="1026281" y="2297766"/>
                  <a:pt x="0" y="1271485"/>
                  <a:pt x="0" y="5503"/>
                </a:cubicBezTo>
                <a:close/>
              </a:path>
            </a:pathLst>
          </a:cu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Espace réservé du pied de page 4"/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itre 2"/>
          <p:cNvSpPr>
            <a:spLocks noGrp="1"/>
          </p:cNvSpPr>
          <p:nvPr>
            <p:ph type="title" hasCustomPrompt="1"/>
          </p:nvPr>
        </p:nvSpPr>
        <p:spPr>
          <a:xfrm>
            <a:off x="302995" y="3383280"/>
            <a:ext cx="11660405" cy="625641"/>
          </a:xfrm>
          <a:prstGeom prst="rect">
            <a:avLst/>
          </a:prstGeom>
        </p:spPr>
        <p:txBody>
          <a:bodyPr vert="horz" lIns="457200" tIns="45720" rIns="45720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i="0" kern="1200" spc="40" baseline="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marR="0" lvl="0" indent="0" rt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noProof="0"/>
              <a:t>CLIQUEZ POUR MODIFIER LE STYLE DU TITRE DE MASQUE</a:t>
            </a:r>
          </a:p>
        </p:txBody>
      </p:sp>
      <p:sp>
        <p:nvSpPr>
          <p:cNvPr id="22" name="Espace réservé a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3923323" y="186061"/>
            <a:ext cx="4376615" cy="627351"/>
          </a:xfrm>
        </p:spPr>
        <p:txBody>
          <a:bodyPr rtlCol="0"/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1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un titre de section ici</a:t>
            </a:r>
          </a:p>
          <a:p>
            <a:pPr lvl="1" rtl="0"/>
            <a:r>
              <a:rPr lang="fr-FR" noProof="0"/>
              <a:t>1</a:t>
            </a:r>
          </a:p>
        </p:txBody>
      </p:sp>
      <p:sp>
        <p:nvSpPr>
          <p:cNvPr id="23" name="Espace réservé a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1" y="4206240"/>
            <a:ext cx="11658600" cy="424732"/>
          </a:xfrm>
        </p:spPr>
        <p:txBody>
          <a:bodyPr lIns="457200" rIns="457200" rtlCol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4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2400" b="0" i="0" u="none" strike="noStrike" kern="1200" cap="none" spc="0" normalizeH="0" noProof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Ajoutez une courte phrase de résumé sur le titre/l’instruction ci-dessus</a:t>
            </a:r>
          </a:p>
        </p:txBody>
      </p:sp>
      <p:sp>
        <p:nvSpPr>
          <p:cNvPr id="6" name="Espace réservé a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5440539" y="1007413"/>
            <a:ext cx="1385316" cy="1200329"/>
          </a:xfrm>
        </p:spPr>
        <p:txBody>
          <a:bodyPr wrap="none" rtlCol="0" anchor="ctr"/>
          <a:lstStyle>
            <a:lvl1pPr algn="ctr">
              <a:defRPr kumimoji="0" lang="en-US" sz="8000" b="1" i="0" u="none" strike="noStrike" kern="1200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2319819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ÉPARATEUR DE SECTION DE BASE BOUÉ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e 6"/>
          <p:cNvSpPr/>
          <p:nvPr userDrawn="1"/>
        </p:nvSpPr>
        <p:spPr>
          <a:xfrm>
            <a:off x="2861702" y="157952"/>
            <a:ext cx="6483179" cy="64831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3448777" y="2476212"/>
            <a:ext cx="5208335" cy="1846659"/>
          </a:xfrm>
          <a:prstGeom prst="rect">
            <a:avLst/>
          </a:prstGeom>
        </p:spPr>
        <p:txBody>
          <a:bodyPr rtlCol="0" anchor="ctr"/>
          <a:lstStyle>
            <a:lvl1pPr algn="ctr">
              <a:lnSpc>
                <a:spcPct val="95000"/>
              </a:lnSpc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</a:t>
            </a:r>
          </a:p>
        </p:txBody>
      </p:sp>
      <p:sp>
        <p:nvSpPr>
          <p:cNvPr id="9" name="points"/>
          <p:cNvSpPr>
            <a:spLocks noChangeAspect="1"/>
          </p:cNvSpPr>
          <p:nvPr userDrawn="1"/>
        </p:nvSpPr>
        <p:spPr>
          <a:xfrm>
            <a:off x="3448777" y="745024"/>
            <a:ext cx="5309024" cy="5309025"/>
          </a:xfrm>
          <a:prstGeom prst="ellipse">
            <a:avLst/>
          </a:prstGeom>
          <a:noFill/>
          <a:ln w="184150" cap="rnd" cmpd="sng" algn="ctr">
            <a:solidFill>
              <a:schemeClr val="accent4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270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foncée 3_Quote ALIGNÉ À GAUCHE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au texte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rtlCol="0"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 rtl="0"/>
            <a:r>
              <a:rPr lang="fr-FR" noProof="0"/>
              <a:t>« CITATION ».</a:t>
            </a:r>
          </a:p>
          <a:p>
            <a:pPr lvl="1" rtl="0"/>
            <a:r>
              <a:rPr lang="fr-FR" noProof="0"/>
              <a:t> GRAS</a:t>
            </a:r>
          </a:p>
        </p:txBody>
      </p:sp>
      <p:sp>
        <p:nvSpPr>
          <p:cNvPr id="7" name="Forme libre : Forme 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 rtlCol="0"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 rtl="0"/>
            <a:r>
              <a:rPr lang="fr-FR" noProof="0"/>
              <a:t>— Nom et société / source ici</a:t>
            </a:r>
          </a:p>
        </p:txBody>
      </p:sp>
    </p:spTree>
    <p:extLst>
      <p:ext uri="{BB962C8B-B14F-4D97-AF65-F5344CB8AC3E}">
        <p14:creationId xmlns:p14="http://schemas.microsoft.com/office/powerpoint/2010/main" val="2633561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foncée 1_Quote CENTRÉE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au texte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rtlCol="0" anchor="ctr"/>
          <a:lstStyle>
            <a:lvl1pPr algn="ctr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algn="ctr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 rtl="0"/>
            <a:r>
              <a:rPr lang="fr-FR" noProof="0"/>
              <a:t>« CITATION ».</a:t>
            </a:r>
          </a:p>
          <a:p>
            <a:pPr lvl="1" rtl="0"/>
            <a:r>
              <a:rPr lang="fr-FR" noProof="0"/>
              <a:t>GRAS</a:t>
            </a:r>
          </a:p>
        </p:txBody>
      </p:sp>
      <p:sp>
        <p:nvSpPr>
          <p:cNvPr id="7" name="Forme libre : Forme 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 rtlCol="0"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 rtl="0"/>
            <a:r>
              <a:rPr lang="fr-FR" noProof="0"/>
              <a:t>— Nom et société / source ici</a:t>
            </a:r>
          </a:p>
        </p:txBody>
      </p:sp>
    </p:spTree>
    <p:extLst>
      <p:ext uri="{BB962C8B-B14F-4D97-AF65-F5344CB8AC3E}">
        <p14:creationId xmlns:p14="http://schemas.microsoft.com/office/powerpoint/2010/main" val="4203219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foncée 4_Quote ALIGNÉ À GAUCH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au texte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rtlCol="0"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 rtl="0"/>
            <a:r>
              <a:rPr lang="fr-FR" noProof="0"/>
              <a:t>« CITATION ».</a:t>
            </a:r>
          </a:p>
          <a:p>
            <a:pPr lvl="1" rtl="0"/>
            <a:r>
              <a:rPr lang="fr-FR" noProof="0"/>
              <a:t> GRAS</a:t>
            </a:r>
          </a:p>
        </p:txBody>
      </p:sp>
      <p:sp>
        <p:nvSpPr>
          <p:cNvPr id="7" name="Forme libre : Forme 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 rtlCol="0"/>
          <a:lstStyle>
            <a:lvl1pPr algn="r">
              <a:spcBef>
                <a:spcPts val="0"/>
              </a:spcBef>
              <a:defRPr sz="2000" b="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 rtl="0"/>
            <a:r>
              <a:rPr lang="fr-FR" noProof="0"/>
              <a:t>— Nom et société / source ici</a:t>
            </a:r>
          </a:p>
        </p:txBody>
      </p:sp>
    </p:spTree>
    <p:extLst>
      <p:ext uri="{BB962C8B-B14F-4D97-AF65-F5344CB8AC3E}">
        <p14:creationId xmlns:p14="http://schemas.microsoft.com/office/powerpoint/2010/main" val="960637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claire 1_Quote CENTR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 de texte 8"/>
          <p:cNvSpPr txBox="1"/>
          <p:nvPr userDrawn="1"/>
        </p:nvSpPr>
        <p:spPr>
          <a:xfrm>
            <a:off x="5648960" y="419100"/>
            <a:ext cx="89408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11500" noProof="0">
                <a:solidFill>
                  <a:schemeClr val="accent4"/>
                </a:solidFill>
                <a:latin typeface="Arial Black" panose="020B0A04020102020204" pitchFamily="34" charset="0"/>
              </a:rPr>
              <a:t>« </a:t>
            </a:r>
            <a:endParaRPr lang="fr-FR" sz="2800" noProof="0">
              <a:solidFill>
                <a:schemeClr val="accent4"/>
              </a:solidFill>
            </a:endParaRPr>
          </a:p>
        </p:txBody>
      </p:sp>
      <p:sp>
        <p:nvSpPr>
          <p:cNvPr id="5" name="Espace réservé a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408362" y="5335071"/>
            <a:ext cx="8097838" cy="369332"/>
          </a:xfrm>
        </p:spPr>
        <p:txBody>
          <a:bodyPr rtlCol="0"/>
          <a:lstStyle>
            <a:lvl1pPr algn="r"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 rtl="0"/>
            <a:r>
              <a:rPr lang="fr-FR" noProof="0"/>
              <a:t>— Nom et société / source ici</a:t>
            </a:r>
          </a:p>
        </p:txBody>
      </p:sp>
      <p:sp>
        <p:nvSpPr>
          <p:cNvPr id="6" name="Espace réservé au texte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rtlCol="0" anchor="ctr"/>
          <a:lstStyle>
            <a:lvl1pPr algn="ctr">
              <a:spcBef>
                <a:spcPts val="0"/>
              </a:spcBef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</a:lstStyle>
          <a:p>
            <a:pPr lvl="0" rtl="0"/>
            <a:r>
              <a:rPr lang="fr-FR" noProof="0"/>
              <a:t>« CITATION ».</a:t>
            </a:r>
          </a:p>
          <a:p>
            <a:pPr lvl="1" rtl="0"/>
            <a:r>
              <a:rPr lang="fr-FR" noProof="0"/>
              <a:t>GRAS</a:t>
            </a:r>
          </a:p>
        </p:txBody>
      </p:sp>
      <p:sp>
        <p:nvSpPr>
          <p:cNvPr id="7" name="Espace réservé a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60551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ark Légende avec une petite non-pu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a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597273"/>
            <a:ext cx="4868985" cy="2031325"/>
          </a:xfrm>
        </p:spPr>
        <p:txBody>
          <a:bodyPr wrap="square" lIns="91440" r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fr-FR" noProof="0"/>
              <a:t>Une brève introduction</a:t>
            </a:r>
            <a:br>
              <a:rPr lang="fr-FR" noProof="0"/>
            </a:br>
            <a:r>
              <a:rPr lang="fr-FR" noProof="0"/>
              <a:t>aux données, en révélant</a:t>
            </a:r>
            <a:br>
              <a:rPr lang="fr-FR" noProof="0"/>
            </a:br>
            <a:r>
              <a:rPr lang="fr-FR" noProof="0"/>
              <a:t>les points une par une vous permettra d’améliorer la compréhension.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19100"/>
            <a:ext cx="5671764" cy="1843069"/>
          </a:xfrm>
        </p:spPr>
        <p:txBody>
          <a:bodyPr rtlCol="0"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800493"/>
          </a:xfrm>
          <a:prstGeom prst="rect">
            <a:avLst/>
          </a:prstGeom>
        </p:spPr>
        <p:txBody>
          <a:bodyPr lIns="146304" tIns="420624" rIns="146304" rtlCol="0" anchor="t" anchorCtr="0"/>
          <a:lstStyle>
            <a:lvl1pPr algn="ctr"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modifier le style du titre du masque</a:t>
            </a:r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599498"/>
            <a:ext cx="5671764" cy="1843069"/>
          </a:xfrm>
        </p:spPr>
        <p:txBody>
          <a:bodyPr rtlCol="0"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3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779896"/>
            <a:ext cx="5671764" cy="1843069"/>
          </a:xfrm>
        </p:spPr>
        <p:txBody>
          <a:bodyPr rtlCol="0"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28178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llout avec une petite non-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e libre : Forme 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a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472751"/>
            <a:ext cx="4566001" cy="2031325"/>
          </a:xfrm>
        </p:spPr>
        <p:txBody>
          <a:bodyPr wrap="square" lIns="91440" r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fr-FR" noProof="0"/>
              <a:t>Une brève introduction</a:t>
            </a:r>
            <a:br>
              <a:rPr lang="fr-FR" noProof="0"/>
            </a:br>
            <a:r>
              <a:rPr lang="fr-FR" noProof="0"/>
              <a:t>aux données, en révélant</a:t>
            </a:r>
            <a:br>
              <a:rPr lang="fr-FR" noProof="0"/>
            </a:br>
            <a:r>
              <a:rPr lang="fr-FR" noProof="0"/>
              <a:t>les points une par une vous permettra d’améliorer la compréhension.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19100"/>
            <a:ext cx="5671764" cy="1705723"/>
          </a:xfrm>
        </p:spPr>
        <p:txBody>
          <a:bodyPr rtlCol="0"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750600" y="6484937"/>
            <a:ext cx="4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5AE1514C-5E56-4738-A1FF-4B1CFD2A3E3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800493"/>
          </a:xfrm>
          <a:prstGeom prst="rect">
            <a:avLst/>
          </a:prstGeom>
        </p:spPr>
        <p:txBody>
          <a:bodyPr lIns="146304" tIns="420624" rIns="146304" rtlCol="0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modifier le style du titre du masque</a:t>
            </a:r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697329"/>
            <a:ext cx="5671764" cy="1705723"/>
          </a:xfrm>
        </p:spPr>
        <p:txBody>
          <a:bodyPr rtlCol="0"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3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975558"/>
            <a:ext cx="5671764" cy="1705723"/>
          </a:xfrm>
        </p:spPr>
        <p:txBody>
          <a:bodyPr rtlCol="0"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7746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0.03178 0.0004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>
        <p:tmplLst>
          <p:tmpl lvl="1">
            <p:tnLst>
              <p:par>
                <p:cTn presetID="63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4.375E-6 -4.07407E-6 L 0.03178 0.00047 " pathEditMode="relative" rAng="0" ptsTypes="AA">
                      <p:cBhvr>
                        <p:cTn dur="75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1589" y="23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llout avec une petite non-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e libre : Forme 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a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431800"/>
            <a:ext cx="5371038" cy="2264723"/>
          </a:xfrm>
        </p:spPr>
        <p:txBody>
          <a:bodyPr wrap="square" lIns="146304" rIns="146304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fr-FR" noProof="0"/>
              <a:t>Une brève introduction</a:t>
            </a:r>
            <a:br>
              <a:rPr lang="fr-FR" noProof="0"/>
            </a:br>
            <a:r>
              <a:rPr lang="fr-FR" noProof="0"/>
              <a:t>aux données, en révélant</a:t>
            </a:r>
            <a:br>
              <a:rPr lang="fr-FR" noProof="0"/>
            </a:br>
            <a:r>
              <a:rPr lang="fr-FR" noProof="0"/>
              <a:t>les points une par une vous permettra d’améliorer la compréhension.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293687" y="3436331"/>
            <a:ext cx="2286000" cy="1802032"/>
          </a:xfrm>
        </p:spPr>
        <p:txBody>
          <a:bodyPr lIns="182880" tIns="146304" rIns="182880" rtlCol="0"/>
          <a:lstStyle>
            <a:lvl1pPr marL="0" indent="0" algn="l">
              <a:buNone/>
              <a:defRPr sz="1600" b="1">
                <a:latin typeface="+mn-lt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>
                <a:latin typeface="+mn-lt"/>
              </a:defRPr>
            </a:lvl3pPr>
            <a:lvl4pPr marL="0" indent="0" algn="l">
              <a:buNone/>
              <a:defRPr sz="1100">
                <a:latin typeface="+mn-lt"/>
              </a:defRPr>
            </a:lvl4pPr>
            <a:lvl5pPr marL="0" indent="0" algn="l">
              <a:buNone/>
              <a:defRPr sz="110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800493"/>
          </a:xfrm>
          <a:prstGeom prst="rect">
            <a:avLst/>
          </a:prstGeom>
        </p:spPr>
        <p:txBody>
          <a:bodyPr lIns="146304" tIns="420624" rIns="146304" rtlCol="0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modifier le style du titre du masque</a:t>
            </a:r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2" hasCustomPrompt="1"/>
          </p:nvPr>
        </p:nvSpPr>
        <p:spPr>
          <a:xfrm>
            <a:off x="2661017" y="3436331"/>
            <a:ext cx="2286000" cy="1750736"/>
          </a:xfrm>
        </p:spPr>
        <p:txBody>
          <a:bodyPr lIns="182880" tIns="146304" rIns="91440" rtlCol="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1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8347" y="3436331"/>
            <a:ext cx="2286000" cy="1750736"/>
          </a:xfrm>
        </p:spPr>
        <p:txBody>
          <a:bodyPr lIns="182880" tIns="146304" rIns="91440" rtlCol="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sz="14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buNone/>
              <a:defRPr sz="1200" b="1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u texte 8"/>
          <p:cNvSpPr>
            <a:spLocks noGrp="1"/>
          </p:cNvSpPr>
          <p:nvPr>
            <p:ph type="body" sz="quarter" idx="14" hasCustomPrompt="1"/>
          </p:nvPr>
        </p:nvSpPr>
        <p:spPr>
          <a:xfrm>
            <a:off x="7395677" y="3436331"/>
            <a:ext cx="2286000" cy="1802032"/>
          </a:xfrm>
        </p:spPr>
        <p:txBody>
          <a:bodyPr lIns="182880" tIns="146304" rIns="91440" rtlCol="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1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5" name="Espace réservé du texte 8"/>
          <p:cNvSpPr>
            <a:spLocks noGrp="1"/>
          </p:cNvSpPr>
          <p:nvPr>
            <p:ph type="body" sz="quarter" idx="15" hasCustomPrompt="1"/>
          </p:nvPr>
        </p:nvSpPr>
        <p:spPr>
          <a:xfrm>
            <a:off x="9763006" y="3436331"/>
            <a:ext cx="2286000" cy="1750736"/>
          </a:xfrm>
        </p:spPr>
        <p:txBody>
          <a:bodyPr lIns="182880" tIns="146304" rIns="91440" rtlCol="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1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3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6416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5 colonnes de texte plus pet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04800" y="2598127"/>
            <a:ext cx="3714704" cy="2805896"/>
          </a:xfrm>
        </p:spPr>
        <p:txBody>
          <a:bodyPr lIns="91440" rIns="91440" rtlCol="0"/>
          <a:lstStyle>
            <a:lvl1pPr algn="ctr">
              <a:spcAft>
                <a:spcPts val="3000"/>
              </a:spcAft>
              <a:defRPr sz="24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4" hasCustomPrompt="1"/>
          </p:nvPr>
        </p:nvSpPr>
        <p:spPr>
          <a:xfrm>
            <a:off x="4168631" y="2598127"/>
            <a:ext cx="3840480" cy="3806170"/>
          </a:xfrm>
        </p:spPr>
        <p:txBody>
          <a:bodyPr lIns="91440" rIns="91440" rtlCol="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fr-FR" noProof="0"/>
              <a:t>Deuxième niveau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fr-FR" noProof="0"/>
              <a:t>Troisième niveau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fr-FR" noProof="0"/>
              <a:t>Quatrième niveau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fr-FR" noProof="0"/>
              <a:t>Cinquième niveau</a:t>
            </a:r>
          </a:p>
        </p:txBody>
      </p:sp>
      <p:sp>
        <p:nvSpPr>
          <p:cNvPr id="9" name="Espace réservé du contenu 2"/>
          <p:cNvSpPr>
            <a:spLocks noGrp="1"/>
          </p:cNvSpPr>
          <p:nvPr>
            <p:ph idx="15" hasCustomPrompt="1"/>
          </p:nvPr>
        </p:nvSpPr>
        <p:spPr>
          <a:xfrm>
            <a:off x="8158238" y="2598127"/>
            <a:ext cx="3773077" cy="3806170"/>
          </a:xfrm>
        </p:spPr>
        <p:txBody>
          <a:bodyPr lIns="91440" rIns="91440" rtlCol="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fr-FR" noProof="0"/>
              <a:t>Deuxième niveau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fr-FR" noProof="0"/>
              <a:t>Troisième niveau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fr-FR" noProof="0"/>
              <a:t>Quatrième niveau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fr-FR" noProof="0"/>
              <a:t>Cinquième niveau</a:t>
            </a:r>
          </a:p>
        </p:txBody>
      </p:sp>
      <p:sp>
        <p:nvSpPr>
          <p:cNvPr id="11" name="Forme libre : Forme 10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16322" y="339408"/>
            <a:ext cx="2375877" cy="978729"/>
          </a:xfrm>
        </p:spPr>
        <p:txBody>
          <a:bodyPr rtlCol="0"/>
          <a:lstStyle>
            <a:lvl1pPr algn="ctr">
              <a:defRPr lang="en-US" sz="3200" b="0" i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</a:t>
            </a:r>
          </a:p>
        </p:txBody>
      </p:sp>
      <p:sp>
        <p:nvSpPr>
          <p:cNvPr id="10" name="Espace réservé au texte 9"/>
          <p:cNvSpPr>
            <a:spLocks noGrp="1"/>
          </p:cNvSpPr>
          <p:nvPr>
            <p:ph type="body" sz="quarter" idx="16" hasCustomPrompt="1"/>
          </p:nvPr>
        </p:nvSpPr>
        <p:spPr>
          <a:xfrm>
            <a:off x="2879003" y="419100"/>
            <a:ext cx="9084398" cy="1870769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7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8628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5 colonnes de texte plus pet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68658" y="3493674"/>
            <a:ext cx="2377440" cy="2480166"/>
          </a:xfrm>
        </p:spPr>
        <p:txBody>
          <a:bodyPr lIns="146304" rIns="146304" rtlCol="0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7" name="Espace réservé du contenu 2"/>
          <p:cNvSpPr>
            <a:spLocks noGrp="1"/>
          </p:cNvSpPr>
          <p:nvPr>
            <p:ph idx="14" hasCustomPrompt="1"/>
          </p:nvPr>
        </p:nvSpPr>
        <p:spPr>
          <a:xfrm>
            <a:off x="2483635" y="3493674"/>
            <a:ext cx="2377440" cy="2480166"/>
          </a:xfrm>
        </p:spPr>
        <p:txBody>
          <a:bodyPr lIns="146304" rIns="146304" rtlCol="0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9" name="Espace réservé du contenu 2"/>
          <p:cNvSpPr>
            <a:spLocks noGrp="1"/>
          </p:cNvSpPr>
          <p:nvPr>
            <p:ph idx="15" hasCustomPrompt="1"/>
          </p:nvPr>
        </p:nvSpPr>
        <p:spPr>
          <a:xfrm>
            <a:off x="4898612" y="3493674"/>
            <a:ext cx="2377440" cy="2480166"/>
          </a:xfrm>
        </p:spPr>
        <p:txBody>
          <a:bodyPr lIns="146304" rIns="146304" rtlCol="0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u contenu 2"/>
          <p:cNvSpPr>
            <a:spLocks noGrp="1"/>
          </p:cNvSpPr>
          <p:nvPr>
            <p:ph idx="16" hasCustomPrompt="1"/>
          </p:nvPr>
        </p:nvSpPr>
        <p:spPr>
          <a:xfrm>
            <a:off x="7313589" y="3493674"/>
            <a:ext cx="2377440" cy="2480166"/>
          </a:xfrm>
        </p:spPr>
        <p:txBody>
          <a:bodyPr lIns="146304" rIns="146304" rtlCol="0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idx="17" hasCustomPrompt="1"/>
          </p:nvPr>
        </p:nvSpPr>
        <p:spPr>
          <a:xfrm>
            <a:off x="9728566" y="3493674"/>
            <a:ext cx="2377440" cy="2480166"/>
          </a:xfrm>
        </p:spPr>
        <p:txBody>
          <a:bodyPr lIns="146304" rIns="146304" rtlCol="0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Rectangle 11"/>
          <p:cNvSpPr/>
          <p:nvPr userDrawn="1"/>
        </p:nvSpPr>
        <p:spPr>
          <a:xfrm>
            <a:off x="297258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Rectangle 12"/>
          <p:cNvSpPr/>
          <p:nvPr userDrawn="1"/>
        </p:nvSpPr>
        <p:spPr>
          <a:xfrm>
            <a:off x="2712235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/>
          <p:cNvSpPr/>
          <p:nvPr userDrawn="1"/>
        </p:nvSpPr>
        <p:spPr>
          <a:xfrm>
            <a:off x="7542189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/>
          <p:cNvSpPr/>
          <p:nvPr userDrawn="1"/>
        </p:nvSpPr>
        <p:spPr>
          <a:xfrm>
            <a:off x="9957166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Rectangle 15"/>
          <p:cNvSpPr/>
          <p:nvPr userDrawn="1"/>
        </p:nvSpPr>
        <p:spPr>
          <a:xfrm>
            <a:off x="5127212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Espace réservé au texte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70361"/>
            <a:ext cx="12192000" cy="535531"/>
          </a:xfrm>
        </p:spPr>
        <p:txBody>
          <a:bodyPr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modifier le style du titre du masque</a:t>
            </a:r>
          </a:p>
        </p:txBody>
      </p:sp>
      <p:sp>
        <p:nvSpPr>
          <p:cNvPr id="17" name="Espace réservé au contenu 2"/>
          <p:cNvSpPr>
            <a:spLocks noGrp="1"/>
          </p:cNvSpPr>
          <p:nvPr>
            <p:ph idx="18" hasCustomPrompt="1"/>
          </p:nvPr>
        </p:nvSpPr>
        <p:spPr>
          <a:xfrm>
            <a:off x="68658" y="2577396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N°</a:t>
            </a:r>
          </a:p>
        </p:txBody>
      </p:sp>
      <p:sp>
        <p:nvSpPr>
          <p:cNvPr id="18" name="Espace réservé au contenu 2"/>
          <p:cNvSpPr>
            <a:spLocks noGrp="1"/>
          </p:cNvSpPr>
          <p:nvPr>
            <p:ph idx="19" hasCustomPrompt="1"/>
          </p:nvPr>
        </p:nvSpPr>
        <p:spPr>
          <a:xfrm>
            <a:off x="2483635" y="2577396"/>
            <a:ext cx="2377440" cy="840230"/>
          </a:xfrm>
        </p:spPr>
        <p:txBody>
          <a:bodyPr lIns="146304" rIns="146304" rtlCol="0"/>
          <a:lstStyle>
            <a:lvl1pPr algn="ctr">
              <a:defRPr lang="en-US" sz="5400" b="1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N°</a:t>
            </a:r>
          </a:p>
        </p:txBody>
      </p:sp>
      <p:sp>
        <p:nvSpPr>
          <p:cNvPr id="19" name="Espace réservé au contenu 2"/>
          <p:cNvSpPr>
            <a:spLocks noGrp="1"/>
          </p:cNvSpPr>
          <p:nvPr>
            <p:ph idx="20" hasCustomPrompt="1"/>
          </p:nvPr>
        </p:nvSpPr>
        <p:spPr>
          <a:xfrm>
            <a:off x="4898612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 rtl="0"/>
            <a:r>
              <a:rPr lang="fr-FR" noProof="0"/>
              <a:t>N°</a:t>
            </a:r>
          </a:p>
        </p:txBody>
      </p:sp>
      <p:sp>
        <p:nvSpPr>
          <p:cNvPr id="20" name="Espace réservé au contenu 2"/>
          <p:cNvSpPr>
            <a:spLocks noGrp="1"/>
          </p:cNvSpPr>
          <p:nvPr>
            <p:ph idx="21" hasCustomPrompt="1"/>
          </p:nvPr>
        </p:nvSpPr>
        <p:spPr>
          <a:xfrm>
            <a:off x="7313589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 rtl="0"/>
            <a:r>
              <a:rPr lang="fr-FR" noProof="0"/>
              <a:t>N°</a:t>
            </a:r>
          </a:p>
        </p:txBody>
      </p:sp>
      <p:sp>
        <p:nvSpPr>
          <p:cNvPr id="21" name="Espace réservé au contenu 2"/>
          <p:cNvSpPr>
            <a:spLocks noGrp="1"/>
          </p:cNvSpPr>
          <p:nvPr>
            <p:ph idx="22" hasCustomPrompt="1"/>
          </p:nvPr>
        </p:nvSpPr>
        <p:spPr>
          <a:xfrm>
            <a:off x="9728566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 rtl="0"/>
            <a:r>
              <a:rPr lang="fr-FR" noProof="0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214607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Disposition photos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à l’image 4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pPr rtl="0"/>
            <a:r>
              <a:rPr lang="fr-FR" noProof="0"/>
              <a:t>Cliquez sur l'icône pour ajouter des images ou rendez-vous en ligne à...</a:t>
            </a:r>
          </a:p>
        </p:txBody>
      </p:sp>
      <p:sp>
        <p:nvSpPr>
          <p:cNvPr id="6" name="Espace réservé au contenu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N°</a:t>
            </a:r>
          </a:p>
        </p:txBody>
      </p:sp>
      <p:sp>
        <p:nvSpPr>
          <p:cNvPr id="8" name="Espace réservé a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428050"/>
            <a:ext cx="6129304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9" name="Espace réservé a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1554163"/>
            <a:ext cx="6096000" cy="1089529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949795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-50 Disposition photos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à l’image 4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802836" y="6484937"/>
            <a:ext cx="387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5AE1514C-5E56-4738-A1FF-4B1CFD2A3E3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6" name="Espace réservé au contenu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N°</a:t>
            </a:r>
          </a:p>
        </p:txBody>
      </p:sp>
      <p:sp>
        <p:nvSpPr>
          <p:cNvPr id="9" name="Espace réservé a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429000"/>
            <a:ext cx="6096000" cy="3092641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a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1554163"/>
            <a:ext cx="6096000" cy="1089529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numéro de diapositive 7" hidden="1"/>
          <p:cNvSpPr txBox="1">
            <a:spLocks/>
          </p:cNvSpPr>
          <p:nvPr userDrawn="1"/>
        </p:nvSpPr>
        <p:spPr>
          <a:xfrm>
            <a:off x="10343911" y="6498718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4997E989-D798-4C62-8E93-3D2D613C2488}" type="slidenum">
              <a:rPr lang="en-US" smtClean="0">
                <a:solidFill>
                  <a:schemeClr val="bg1"/>
                </a:solidFill>
              </a:rPr>
              <a:pPr rtl="0"/>
              <a:t>‹N°›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625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Disposition photos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à l’image 4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a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429000"/>
            <a:ext cx="6129304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contenu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N°</a:t>
            </a:r>
          </a:p>
        </p:txBody>
      </p:sp>
      <p:sp>
        <p:nvSpPr>
          <p:cNvPr id="3" name="Espace réservé a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1554163"/>
            <a:ext cx="6129304" cy="1089529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166566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-50 disposition de photo à gauche avec du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à l’image 4"/>
          <p:cNvSpPr>
            <a:spLocks noGrp="1"/>
          </p:cNvSpPr>
          <p:nvPr>
            <p:ph type="pic" sz="quarter" idx="10" hasCustomPrompt="1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8" name="Espace réservé a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6094443" y="3425619"/>
            <a:ext cx="6097555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9" name="Espace réservé a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6094443" y="1554163"/>
            <a:ext cx="6097556" cy="1089529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au contenu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N°</a:t>
            </a:r>
          </a:p>
        </p:txBody>
      </p:sp>
      <p:sp>
        <p:nvSpPr>
          <p:cNvPr id="11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3840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50-50 disposition de photo à gauche avec du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à l’image 4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6094444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8" name="Espace réservé a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6180534" y="3429000"/>
            <a:ext cx="6011466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a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6180534" y="1554163"/>
            <a:ext cx="5791200" cy="1089529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au contenu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N°</a:t>
            </a:r>
          </a:p>
        </p:txBody>
      </p:sp>
      <p:sp>
        <p:nvSpPr>
          <p:cNvPr id="12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515000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50-50 disposition de photo à gauche avec du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à l’image 4"/>
          <p:cNvSpPr>
            <a:spLocks noGrp="1"/>
          </p:cNvSpPr>
          <p:nvPr>
            <p:ph type="pic" sz="quarter" idx="10" hasCustomPrompt="1"/>
          </p:nvPr>
        </p:nvSpPr>
        <p:spPr bwMode="ltGray">
          <a:xfrm flipH="1">
            <a:off x="0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a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6138266" y="3457545"/>
            <a:ext cx="6053733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8" name="Espace réservé a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6138267" y="1554164"/>
            <a:ext cx="5875734" cy="535531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fr-FR" noProof="0"/>
              <a:t>Disposition de photo 50/50</a:t>
            </a:r>
          </a:p>
        </p:txBody>
      </p:sp>
      <p:sp>
        <p:nvSpPr>
          <p:cNvPr id="9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612240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disposition de photo à gauche avec du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à l’image 4"/>
          <p:cNvSpPr>
            <a:spLocks noGrp="1"/>
          </p:cNvSpPr>
          <p:nvPr>
            <p:ph type="pic" sz="quarter" idx="10" hasCustomPrompt="1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a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107099"/>
            <a:ext cx="6096000" cy="2643801"/>
          </a:xfrm>
        </p:spPr>
        <p:txBody>
          <a:bodyPr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ts val="2400"/>
              </a:spcBef>
              <a:spcAft>
                <a:spcPts val="6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spcBef>
                <a:spcPts val="0"/>
              </a:spcBef>
              <a:spcAft>
                <a:spcPts val="600"/>
              </a:spcAft>
              <a:defRPr sz="2800"/>
            </a:lvl2pPr>
            <a:lvl3pPr algn="ctr">
              <a:spcBef>
                <a:spcPts val="0"/>
              </a:spcBef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spcBef>
                <a:spcPts val="0"/>
              </a:spcBef>
              <a:spcAft>
                <a:spcPts val="600"/>
              </a:spcAft>
              <a:defRPr sz="2000" b="1"/>
            </a:lvl4pPr>
            <a:lvl5pPr algn="ctr"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9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637066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disposition de photo à gauche avec du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à l’image 9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0413" cy="6858000"/>
          </a:xfrm>
          <a:blipFill>
            <a:blip r:embed="rId2"/>
            <a:stretch>
              <a:fillRect/>
            </a:stretch>
          </a:blipFill>
        </p:spPr>
        <p:txBody>
          <a:bodyPr rtlCol="0" anchor="ctr" anchorCtr="0">
            <a:noAutofit/>
          </a:bodyPr>
          <a:lstStyle>
            <a:lvl1pPr algn="r">
              <a:defRPr baseline="0"/>
            </a:lvl1pPr>
          </a:lstStyle>
          <a:p>
            <a:pPr rtl="0"/>
            <a:r>
              <a:rPr lang="fr-FR" noProof="0"/>
              <a:t>Photo à fond perdu complet</a:t>
            </a:r>
          </a:p>
        </p:txBody>
      </p:sp>
      <p:sp>
        <p:nvSpPr>
          <p:cNvPr id="7" name="Espace réservé au contenu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fr-FR" noProof="0"/>
              <a:t>N°</a:t>
            </a:r>
          </a:p>
        </p:txBody>
      </p:sp>
      <p:sp>
        <p:nvSpPr>
          <p:cNvPr id="11" name="Espace réservé a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3429000"/>
            <a:ext cx="5960269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a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1554164"/>
            <a:ext cx="5875734" cy="535531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fr-FR" noProof="0"/>
              <a:t>Titre</a:t>
            </a:r>
          </a:p>
        </p:txBody>
      </p:sp>
      <p:sp>
        <p:nvSpPr>
          <p:cNvPr id="13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605446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llout avec une petite non-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a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2264723"/>
          </a:xfrm>
        </p:spPr>
        <p:txBody>
          <a:bodyPr wrap="square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fr-FR" noProof="0"/>
              <a:t>Une brève introduction</a:t>
            </a:r>
            <a:br>
              <a:rPr lang="fr-FR" noProof="0"/>
            </a:br>
            <a:r>
              <a:rPr lang="fr-FR" noProof="0"/>
              <a:t>aux données, en révélant</a:t>
            </a:r>
            <a:br>
              <a:rPr lang="fr-FR" noProof="0"/>
            </a:br>
            <a:r>
              <a:rPr lang="fr-FR" noProof="0"/>
              <a:t>les points une par une vous permettra d’améliorer la compréhension.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6253316" y="3503950"/>
            <a:ext cx="5671764" cy="1705723"/>
          </a:xfrm>
        </p:spPr>
        <p:txBody>
          <a:bodyPr rtlCol="0"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à l’image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2974848"/>
          </a:xfrm>
          <a:blipFill>
            <a:blip r:embed="rId2"/>
            <a:srcRect/>
            <a:stretch>
              <a:fillRect t="-65721" r="-4798" b="-46455"/>
            </a:stretch>
          </a:blipFill>
        </p:spPr>
        <p:txBody>
          <a:bodyPr rtlCol="0" anchor="ctr" anchorCtr="0">
            <a:noAutofit/>
          </a:bodyPr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22023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à l’image 6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lIns="91440" rtlCol="0">
            <a:noAutofit/>
          </a:bodyPr>
          <a:lstStyle>
            <a:lvl1pPr algn="ctr">
              <a:defRPr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66652" y="2567613"/>
            <a:ext cx="8804365" cy="2529923"/>
          </a:xfrm>
          <a:prstGeom prst="rect">
            <a:avLst/>
          </a:prstGeom>
        </p:spPr>
        <p:txBody>
          <a:bodyPr rtlCol="0"/>
          <a:lstStyle>
            <a:lvl1pPr algn="l">
              <a:defRPr lang="en-US" sz="8800" b="1" i="0" kern="1200" spc="1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rtl="0"/>
            <a:r>
              <a:rPr lang="fr-FR" noProof="0"/>
              <a:t>CLIQUEZ POUR MODIFIER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581150" y="3971108"/>
            <a:ext cx="9461500" cy="757130"/>
          </a:xfrm>
        </p:spPr>
        <p:txBody>
          <a:bodyPr rtlCol="0"/>
          <a:lstStyle>
            <a:lvl1pPr algn="l">
              <a:defRPr lang="en-US" sz="4800" b="1" i="0" kern="1200" spc="300" dirty="0" smtClean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fr-FR" noProof="0"/>
              <a:t>MODIFIEZ LE TEXTE MAÎTRE</a:t>
            </a:r>
          </a:p>
        </p:txBody>
      </p:sp>
    </p:spTree>
    <p:extLst>
      <p:ext uri="{BB962C8B-B14F-4D97-AF65-F5344CB8AC3E}">
        <p14:creationId xmlns:p14="http://schemas.microsoft.com/office/powerpoint/2010/main" val="7249371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au numéro de diapositive 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066954" cy="6858000"/>
          </a:xfrm>
        </p:spPr>
        <p:txBody>
          <a:bodyPr rtlCol="0" anchor="ctr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3196106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473558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ét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 4">
            <a:extLst>
              <a:ext uri="{FF2B5EF4-FFF2-40B4-BE49-F238E27FC236}">
                <a16:creationId xmlns:a16="http://schemas.microsoft.com/office/drawing/2014/main" id="{914BDA58-9C93-4222-A4EC-4BEB46CE06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175"/>
            <a:ext cx="12191996" cy="6851648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" name="Zone de texte 5">
            <a:hlinkClick r:id="rId3"/>
            <a:extLst>
              <a:ext uri="{FF2B5EF4-FFF2-40B4-BE49-F238E27FC236}">
                <a16:creationId xmlns:a16="http://schemas.microsoft.com/office/drawing/2014/main" id="{FC5E276D-531E-45A9-B450-EFEC62CDC8DF}"/>
              </a:ext>
            </a:extLst>
          </p:cNvPr>
          <p:cNvSpPr txBox="1"/>
          <p:nvPr userDrawn="1"/>
        </p:nvSpPr>
        <p:spPr>
          <a:xfrm>
            <a:off x="4611331" y="93791"/>
            <a:ext cx="2969340" cy="31651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50" b="0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Neal Creative | Cliquez sur &amp; </a:t>
            </a:r>
            <a:r>
              <a:rPr lang="fr-FR" sz="105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En savoir plus</a:t>
            </a:r>
          </a:p>
        </p:txBody>
      </p:sp>
      <p:sp>
        <p:nvSpPr>
          <p:cNvPr id="7" name="Zone de texte 6">
            <a:hlinkClick r:id="rId4"/>
          </p:cNvPr>
          <p:cNvSpPr txBox="1"/>
          <p:nvPr userDrawn="1"/>
        </p:nvSpPr>
        <p:spPr>
          <a:xfrm>
            <a:off x="0" y="6548363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noProof="0">
                <a:solidFill>
                  <a:schemeClr val="tx1"/>
                </a:solidFill>
              </a:rPr>
              <a:t>Neal Creative </a:t>
            </a:r>
            <a:r>
              <a:rPr lang="fr-FR" sz="9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fr-FR" sz="1000" noProof="0">
                <a:solidFill>
                  <a:schemeClr val="tx1"/>
                </a:solidFill>
              </a:rPr>
              <a:t> </a:t>
            </a:r>
            <a:endParaRPr lang="fr-FR" sz="1000" b="1" noProof="0">
              <a:solidFill>
                <a:schemeClr val="tx1"/>
              </a:solidFill>
            </a:endParaRPr>
          </a:p>
        </p:txBody>
      </p:sp>
      <p:grpSp>
        <p:nvGrpSpPr>
          <p:cNvPr id="8" name="Groupe 7">
            <a:extLst>
              <a:ext uri="{FF2B5EF4-FFF2-40B4-BE49-F238E27FC236}">
                <a16:creationId xmlns:a16="http://schemas.microsoft.com/office/drawing/2014/main" id="{EF273A61-5610-4355-89F3-7C90515BFCC9}"/>
              </a:ext>
            </a:extLst>
          </p:cNvPr>
          <p:cNvGrpSpPr/>
          <p:nvPr userDrawn="1"/>
        </p:nvGrpSpPr>
        <p:grpSpPr>
          <a:xfrm>
            <a:off x="5976075" y="4666649"/>
            <a:ext cx="2145370" cy="1798732"/>
            <a:chOff x="5976075" y="3634505"/>
            <a:chExt cx="2145370" cy="1798732"/>
          </a:xfrm>
        </p:grpSpPr>
        <p:pic>
          <p:nvPicPr>
            <p:cNvPr id="9" name="Image 8">
              <a:extLst>
                <a:ext uri="{FF2B5EF4-FFF2-40B4-BE49-F238E27FC236}">
                  <a16:creationId xmlns:a16="http://schemas.microsoft.com/office/drawing/2014/main" id="{6A49345F-7A53-4131-8BB4-087032A6C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72147" y="4142336"/>
              <a:ext cx="838577" cy="1290901"/>
            </a:xfrm>
            <a:prstGeom prst="rect">
              <a:avLst/>
            </a:prstGeom>
          </p:spPr>
        </p:pic>
        <p:sp>
          <p:nvSpPr>
            <p:cNvPr id="10" name="Zone de texte 9">
              <a:extLst>
                <a:ext uri="{FF2B5EF4-FFF2-40B4-BE49-F238E27FC236}">
                  <a16:creationId xmlns:a16="http://schemas.microsoft.com/office/drawing/2014/main" id="{5596D35F-1F19-4447-829C-790DF2B8D2DD}"/>
                </a:ext>
              </a:extLst>
            </p:cNvPr>
            <p:cNvSpPr txBox="1"/>
            <p:nvPr/>
          </p:nvSpPr>
          <p:spPr>
            <a:xfrm>
              <a:off x="5976075" y="3634505"/>
              <a:ext cx="214537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fr-FR" sz="900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CONSEIL</a:t>
              </a:r>
              <a:r>
                <a:rPr lang="fr-FR" sz="900" noProof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│ Utilisez la palette de c</a:t>
              </a:r>
              <a:r>
                <a:rPr lang="fr-FR" sz="900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ouleurs intégrée avec le vert et le jaune pour les légendes et les accents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70504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U TRANSI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e 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Ovale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e 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Ovale 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219939" y="2240230"/>
            <a:ext cx="9107555" cy="2308324"/>
          </a:xfrm>
          <a:prstGeom prst="rect">
            <a:avLst/>
          </a:prstGeom>
          <a:noFill/>
        </p:spPr>
        <p:txBody>
          <a:bodyPr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rtl="0"/>
            <a:r>
              <a:rPr lang="fr-FR" noProof="0"/>
              <a:t>CLIQUEZ POUR MODIFIER LE TITRE</a:t>
            </a:r>
          </a:p>
        </p:txBody>
      </p:sp>
      <p:sp>
        <p:nvSpPr>
          <p:cNvPr id="8" name="Zone de texte 7">
            <a:hlinkClick r:id="rId2"/>
            <a:extLst>
              <a:ext uri="{FF2B5EF4-FFF2-40B4-BE49-F238E27FC236}">
                <a16:creationId xmlns:a16="http://schemas.microsoft.com/office/drawing/2014/main" id="{E516C148-33F4-423B-AB9D-096AA82E12F1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noProof="0">
                <a:solidFill>
                  <a:schemeClr val="bg2">
                    <a:lumMod val="50000"/>
                  </a:schemeClr>
                </a:solidFill>
              </a:rPr>
              <a:t>Neal Creative </a:t>
            </a:r>
            <a:r>
              <a:rPr lang="fr-FR" sz="900" kern="1200" noProof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fr-FR" sz="1000" noProof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fr-FR" sz="1000" b="1" noProof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157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llout avec une petite non-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a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2264723"/>
          </a:xfrm>
        </p:spPr>
        <p:txBody>
          <a:bodyPr wrap="square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fr-FR" noProof="0"/>
              <a:t>Une brève introduction</a:t>
            </a:r>
            <a:br>
              <a:rPr lang="fr-FR" noProof="0"/>
            </a:br>
            <a:r>
              <a:rPr lang="fr-FR" noProof="0"/>
              <a:t>aux données, en révélant</a:t>
            </a:r>
            <a:br>
              <a:rPr lang="fr-FR" noProof="0"/>
            </a:br>
            <a:r>
              <a:rPr lang="fr-FR" noProof="0"/>
              <a:t>les points une par une vous permettra d’améliorer la compréhension.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6253316" y="3503950"/>
            <a:ext cx="5671764" cy="1705723"/>
          </a:xfrm>
        </p:spPr>
        <p:txBody>
          <a:bodyPr rtlCol="0"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à l’image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2974848"/>
          </a:xfrm>
          <a:blipFill>
            <a:blip r:embed="rId2"/>
            <a:srcRect/>
            <a:stretch>
              <a:fillRect t="-65721" r="-4798" b="-46455"/>
            </a:stretch>
          </a:blipFill>
        </p:spPr>
        <p:txBody>
          <a:bodyPr rtlCol="0" anchor="ctr" anchorCtr="0">
            <a:noAutofit/>
          </a:bodyPr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2" name="Zone de texte 11">
            <a:hlinkClick r:id="rId3"/>
            <a:extLst>
              <a:ext uri="{FF2B5EF4-FFF2-40B4-BE49-F238E27FC236}">
                <a16:creationId xmlns:a16="http://schemas.microsoft.com/office/drawing/2014/main" id="{B2DA80A1-9E22-4BFF-8562-466123B36943}"/>
              </a:ext>
            </a:extLst>
          </p:cNvPr>
          <p:cNvSpPr txBox="1"/>
          <p:nvPr userDrawn="1"/>
        </p:nvSpPr>
        <p:spPr>
          <a:xfrm>
            <a:off x="9089198" y="6298102"/>
            <a:ext cx="2990895" cy="367873"/>
          </a:xfrm>
          <a:prstGeom prst="roundRect">
            <a:avLst>
              <a:gd name="adj" fmla="val 50000"/>
            </a:avLst>
          </a:prstGeom>
          <a:solidFill>
            <a:srgbClr val="004568"/>
          </a:solidFill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0" i="0" u="none" strike="noStrike" kern="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Neal Creative | Cliquez sur &amp; </a:t>
            </a:r>
            <a:r>
              <a:rPr lang="fr-FR" sz="1100" b="1" i="0" u="none" strike="noStrike" kern="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En savoir plus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04800" y="419099"/>
            <a:ext cx="8917577" cy="590931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Espace réservé a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13" name="Zone de texte 12">
            <a:hlinkClick r:id="rId4"/>
            <a:extLst>
              <a:ext uri="{FF2B5EF4-FFF2-40B4-BE49-F238E27FC236}">
                <a16:creationId xmlns:a16="http://schemas.microsoft.com/office/drawing/2014/main" id="{1AF511EA-044E-4300-B921-D56138FE402E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noProof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fr-FR" sz="900" kern="1200" noProof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fr-FR" sz="1000" noProof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fr-FR" sz="1000" b="1" noProof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917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(long), Subtitle and Conten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B2DB24-5BB4-4F1B-973E-A10FA63DFB9A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4159252" y="970075"/>
            <a:ext cx="7277345" cy="47834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219456" y="970075"/>
            <a:ext cx="3634528" cy="956261"/>
          </a:xfrm>
        </p:spPr>
        <p:txBody>
          <a:bodyPr rIns="0" anchor="t" anchorCtr="0"/>
          <a:lstStyle>
            <a:lvl1pPr marL="0" indent="0">
              <a:buNone/>
              <a:defRPr sz="1867" b="0">
                <a:latin typeface="Mark Offc For MC" panose="020B0504020101010102" pitchFamily="34" charset="0"/>
              </a:defRPr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dirty="0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219458" y="256033"/>
            <a:ext cx="11217139" cy="4145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9375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CECA9D-D162-44B1-B535-48685A1AA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ADF3CD-4F23-4AF8-8369-6FDDF46D7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864071-6106-43B1-9B65-497A09E7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4CB1-F4E0-4568-82A9-5FC563EDE98C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D73664-0D61-470C-A38B-504F0ECF5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51F4D7-6DF9-4214-9481-2C7D425F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8DD0-E538-4BDF-A900-7F34DCC9E7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255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C4BD406-935C-D0F9-97F5-BC1250463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5276BD-B6A8-65F3-E40A-1AEA943E7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18DD3E-5F43-F682-D43F-699BD7057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5AF57-0CF3-40C5-8DE7-41597FF594A7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552BBC-5CF3-89E1-A8FA-43BB35C52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66F79F-302B-105E-76C9-088D9C926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AA402-F156-44B9-A1AC-09B410046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62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4800" y="1275347"/>
            <a:ext cx="11658600" cy="18707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au titre 3"/>
          <p:cNvSpPr>
            <a:spLocks noGrp="1"/>
          </p:cNvSpPr>
          <p:nvPr>
            <p:ph type="title"/>
          </p:nvPr>
        </p:nvSpPr>
        <p:spPr>
          <a:xfrm>
            <a:off x="304800" y="419100"/>
            <a:ext cx="11658600" cy="5909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rtl="0"/>
            <a:r>
              <a:rPr lang="fr-FR" noProof="0"/>
              <a:t>Modifiez le style au titre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1329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spc="300" dirty="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536">
          <p15:clr>
            <a:srgbClr val="F26B43"/>
          </p15:clr>
        </p15:guide>
        <p15:guide id="5" orient="horz" pos="264">
          <p15:clr>
            <a:srgbClr val="F26B43"/>
          </p15:clr>
        </p15:guide>
        <p15:guide id="6" orient="horz" pos="792">
          <p15:clr>
            <a:srgbClr val="F26B43"/>
          </p15:clr>
        </p15:guide>
        <p15:guide id="7" orient="horz" pos="42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E455-B2FF-7510-2BB5-DAB2228EC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6C1D9A53-B840-4B0A-F9A8-FB94C1EABE44}"/>
              </a:ext>
            </a:extLst>
          </p:cNvPr>
          <p:cNvSpPr txBox="1">
            <a:spLocks/>
          </p:cNvSpPr>
          <p:nvPr/>
        </p:nvSpPr>
        <p:spPr bwMode="auto">
          <a:xfrm>
            <a:off x="226141" y="1626357"/>
            <a:ext cx="5095875" cy="23764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17" tIns="45709" rIns="91417" bIns="45709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fr-FR" sz="4800" b="1" dirty="0">
                <a:solidFill>
                  <a:srgbClr val="FFC000"/>
                </a:solidFill>
                <a:latin typeface="Trebuchet MS" pitchFamily="34" charset="0"/>
              </a:rPr>
              <a:t>Cadrage des Projets de développement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6232274-A694-2276-D23D-3AE48F10D2A6}"/>
              </a:ext>
            </a:extLst>
          </p:cNvPr>
          <p:cNvSpPr txBox="1"/>
          <p:nvPr/>
        </p:nvSpPr>
        <p:spPr>
          <a:xfrm>
            <a:off x="453242" y="6261276"/>
            <a:ext cx="5521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« Comprendre pour mieux conseiller 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AB8E44B-75A3-E1DC-A48E-36C89D82B2C7}"/>
              </a:ext>
            </a:extLst>
          </p:cNvPr>
          <p:cNvSpPr txBox="1"/>
          <p:nvPr/>
        </p:nvSpPr>
        <p:spPr>
          <a:xfrm>
            <a:off x="453242" y="5421046"/>
            <a:ext cx="3851285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Réalisé par :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solidFill>
                  <a:srgbClr val="0070C0"/>
                </a:solidFill>
                <a:latin typeface="Segoe UI"/>
              </a:rPr>
              <a:t>Driss Lamrani / </a:t>
            </a:r>
            <a:r>
              <a:rPr lang="fr-FR" b="1" dirty="0" err="1">
                <a:solidFill>
                  <a:srgbClr val="0070C0"/>
                </a:solidFill>
                <a:latin typeface="Segoe UI"/>
              </a:rPr>
              <a:t>Mabya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Mehdi HANSALI / L4A Agency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E03111-8092-8F20-1E6C-2BD03DE103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1012" y="2692010"/>
            <a:ext cx="4814847" cy="174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54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D150B-4B64-8C2F-6BF2-015CB265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 64">
            <a:extLst>
              <a:ext uri="{FF2B5EF4-FFF2-40B4-BE49-F238E27FC236}">
                <a16:creationId xmlns:a16="http://schemas.microsoft.com/office/drawing/2014/main" id="{CD817EBC-9915-5944-1073-4F9EA9A43F34}"/>
              </a:ext>
            </a:extLst>
          </p:cNvPr>
          <p:cNvSpPr>
            <a:spLocks noChangeAspect="1"/>
          </p:cNvSpPr>
          <p:nvPr/>
        </p:nvSpPr>
        <p:spPr>
          <a:xfrm>
            <a:off x="3759381" y="1551078"/>
            <a:ext cx="3755843" cy="3755843"/>
          </a:xfrm>
          <a:custGeom>
            <a:avLst/>
            <a:gdLst>
              <a:gd name="connsiteX0" fmla="*/ 244064 w 488128"/>
              <a:gd name="connsiteY0" fmla="*/ 0 h 488128"/>
              <a:gd name="connsiteX1" fmla="*/ 488128 w 488128"/>
              <a:gd name="connsiteY1" fmla="*/ 244064 h 488128"/>
              <a:gd name="connsiteX2" fmla="*/ 244064 w 488128"/>
              <a:gd name="connsiteY2" fmla="*/ 488128 h 488128"/>
              <a:gd name="connsiteX3" fmla="*/ 0 w 488128"/>
              <a:gd name="connsiteY3" fmla="*/ 244064 h 488128"/>
              <a:gd name="connsiteX4" fmla="*/ 244064 w 488128"/>
              <a:gd name="connsiteY4" fmla="*/ 0 h 48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28" h="488128">
                <a:moveTo>
                  <a:pt x="244064" y="0"/>
                </a:moveTo>
                <a:cubicBezTo>
                  <a:pt x="378857" y="0"/>
                  <a:pt x="488128" y="109271"/>
                  <a:pt x="488128" y="244064"/>
                </a:cubicBezTo>
                <a:cubicBezTo>
                  <a:pt x="488128" y="378857"/>
                  <a:pt x="378857" y="488128"/>
                  <a:pt x="244064" y="488128"/>
                </a:cubicBezTo>
                <a:cubicBezTo>
                  <a:pt x="109271" y="488128"/>
                  <a:pt x="0" y="378857"/>
                  <a:pt x="0" y="244064"/>
                </a:cubicBezTo>
                <a:cubicBezTo>
                  <a:pt x="0" y="109271"/>
                  <a:pt x="109271" y="0"/>
                  <a:pt x="244064" y="0"/>
                </a:cubicBezTo>
                <a:close/>
              </a:path>
            </a:pathLst>
          </a:cu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Projet Pain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74A4856-933E-824D-F63A-524537F977E4}"/>
              </a:ext>
            </a:extLst>
          </p:cNvPr>
          <p:cNvSpPr txBox="1"/>
          <p:nvPr/>
        </p:nvSpPr>
        <p:spPr>
          <a:xfrm>
            <a:off x="8557470" y="6448467"/>
            <a:ext cx="3545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L4A : « Listening for Advising </a:t>
            </a:r>
            <a:r>
              <a:rPr kumimoji="0" lang="fr-FR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447706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4FFB57-41A3-055C-3A0C-D5F8D50F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90525" indent="-390525" defTabSz="520700"/>
            <a:r>
              <a:rPr lang="fr-F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Contrat Pain: DQC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66A72D-9A8D-2B2F-F68B-8AA3DF7F9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4" y="1825625"/>
            <a:ext cx="10901516" cy="46672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FC000"/>
                </a:solidFill>
              </a:rPr>
              <a:t>1) Délais: </a:t>
            </a:r>
          </a:p>
          <a:p>
            <a:r>
              <a:rPr lang="fr-FR" dirty="0"/>
              <a:t>Prioriser la mise sur le marché</a:t>
            </a:r>
          </a:p>
          <a:p>
            <a:r>
              <a:rPr lang="fr-FR" dirty="0"/>
              <a:t>Exploiter les installations et le Know How actuel</a:t>
            </a:r>
          </a:p>
          <a:p>
            <a:r>
              <a:rPr lang="fr-FR" dirty="0"/>
              <a:t>Mettre en place une dynamique de développement rapide et pragmatique</a:t>
            </a:r>
          </a:p>
          <a:p>
            <a:pPr marL="0" indent="0">
              <a:buNone/>
            </a:pPr>
            <a:r>
              <a:rPr lang="fr-FR" sz="3200" b="1" dirty="0">
                <a:solidFill>
                  <a:srgbClr val="FFC000"/>
                </a:solidFill>
              </a:rPr>
              <a:t>2) Qualité:</a:t>
            </a:r>
            <a:r>
              <a:rPr lang="fr-FR" dirty="0"/>
              <a:t> </a:t>
            </a:r>
          </a:p>
          <a:p>
            <a:r>
              <a:rPr lang="fr-FR" sz="2900" dirty="0"/>
              <a:t>Avoir un produit Final similaire au pain de boulangerie «  </a:t>
            </a:r>
            <a:r>
              <a:rPr lang="fr-FR" sz="2900" dirty="0" err="1"/>
              <a:t>Amoud</a:t>
            </a:r>
            <a:r>
              <a:rPr lang="fr-FR" sz="2900" dirty="0"/>
              <a:t> / Paul» Quid </a:t>
            </a:r>
            <a:r>
              <a:rPr lang="fr-FR" sz="2900" dirty="0" err="1"/>
              <a:t>Pain&amp;Cie</a:t>
            </a:r>
            <a:endParaRPr lang="fr-FR" sz="2900" dirty="0"/>
          </a:p>
          <a:p>
            <a:r>
              <a:rPr lang="fr-FR" sz="2900" dirty="0"/>
              <a:t>Améliorer le temps de décongélation et de cuisson</a:t>
            </a:r>
          </a:p>
          <a:p>
            <a:r>
              <a:rPr lang="fr-FR" sz="2900" dirty="0"/>
              <a:t>Garantir la chaine de froid tout au long du processus jusqu’à l’utilisateur final</a:t>
            </a:r>
          </a:p>
          <a:p>
            <a:r>
              <a:rPr lang="fr-FR" sz="2900" dirty="0"/>
              <a:t>Simplifier le mode opératoire afin de garantir le top qualité produit final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C000"/>
                </a:solidFill>
              </a:rPr>
              <a:t>3) </a:t>
            </a:r>
            <a:r>
              <a:rPr lang="fr-FR" sz="3200" b="1" dirty="0">
                <a:solidFill>
                  <a:srgbClr val="FFC000"/>
                </a:solidFill>
              </a:rPr>
              <a:t>Cout:</a:t>
            </a:r>
          </a:p>
          <a:p>
            <a:r>
              <a:rPr lang="fr-FR" sz="2900" dirty="0"/>
              <a:t>Assurer un produit sur le marché avec un prix marché Iso </a:t>
            </a:r>
            <a:r>
              <a:rPr lang="fr-FR" sz="2900" dirty="0" err="1"/>
              <a:t>Cce</a:t>
            </a:r>
            <a:endParaRPr lang="fr-FR" sz="2900" dirty="0"/>
          </a:p>
          <a:p>
            <a:r>
              <a:rPr lang="fr-FR" sz="2900" dirty="0"/>
              <a:t>Investir des points de marge assumés dans la qualité produit pour se démarquer vis-à-vis de la </a:t>
            </a:r>
            <a:r>
              <a:rPr lang="fr-FR" sz="2900" dirty="0" err="1"/>
              <a:t>cce</a:t>
            </a:r>
            <a:endParaRPr lang="fr-FR" sz="2900" dirty="0"/>
          </a:p>
          <a:p>
            <a:r>
              <a:rPr lang="fr-FR" sz="2900" dirty="0"/>
              <a:t>Définir un intervalle de marge acceptable à piloter en fonction des arbitrages de développement produit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A51AE33-6456-DA72-CA4F-B98DC0EB4803}"/>
              </a:ext>
            </a:extLst>
          </p:cNvPr>
          <p:cNvSpPr txBox="1"/>
          <p:nvPr/>
        </p:nvSpPr>
        <p:spPr>
          <a:xfrm>
            <a:off x="8490098" y="6370310"/>
            <a:ext cx="3545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« Comprendre pour mieux conseiller »</a:t>
            </a:r>
          </a:p>
        </p:txBody>
      </p:sp>
    </p:spTree>
    <p:extLst>
      <p:ext uri="{BB962C8B-B14F-4D97-AF65-F5344CB8AC3E}">
        <p14:creationId xmlns:p14="http://schemas.microsoft.com/office/powerpoint/2010/main" val="2303926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62439-1C51-6695-35FE-F315AFD44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90525" indent="-390525" defTabSz="520700"/>
            <a:r>
              <a:rPr lang="fr-F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Equipe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872B22-B02C-CD51-709C-3502966C2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1" dirty="0">
                <a:solidFill>
                  <a:srgbClr val="FFC000"/>
                </a:solidFill>
              </a:rPr>
              <a:t>R&amp;D : </a:t>
            </a:r>
            <a:r>
              <a:rPr lang="fr-FR" dirty="0" err="1"/>
              <a:t>Interim</a:t>
            </a:r>
            <a:r>
              <a:rPr lang="fr-FR" dirty="0"/>
              <a:t> HN + prestataire externe profil Ingénieur / Baker Orienté développement et benchmark (check piste AM)</a:t>
            </a:r>
          </a:p>
          <a:p>
            <a:r>
              <a:rPr lang="fr-FR" b="1" dirty="0">
                <a:solidFill>
                  <a:srgbClr val="FFC000"/>
                </a:solidFill>
              </a:rPr>
              <a:t>Industriel : </a:t>
            </a:r>
            <a:r>
              <a:rPr lang="fr-FR" dirty="0"/>
              <a:t>HN</a:t>
            </a:r>
            <a:r>
              <a:rPr lang="fr-FR" b="1" dirty="0">
                <a:solidFill>
                  <a:srgbClr val="FFC000"/>
                </a:solidFill>
              </a:rPr>
              <a:t> </a:t>
            </a:r>
            <a:r>
              <a:rPr lang="fr-FR" dirty="0"/>
              <a:t>Expert production </a:t>
            </a:r>
          </a:p>
          <a:p>
            <a:r>
              <a:rPr lang="fr-FR" b="1" dirty="0">
                <a:solidFill>
                  <a:srgbClr val="FFC000"/>
                </a:solidFill>
              </a:rPr>
              <a:t>Qualité : </a:t>
            </a:r>
            <a:r>
              <a:rPr lang="fr-FR" dirty="0"/>
              <a:t>Garant des process et la qualité « projet » (qualiticienne MBI)</a:t>
            </a:r>
          </a:p>
          <a:p>
            <a:r>
              <a:rPr lang="fr-FR" b="1" dirty="0">
                <a:solidFill>
                  <a:srgbClr val="FFC000"/>
                </a:solidFill>
              </a:rPr>
              <a:t>SC : </a:t>
            </a:r>
            <a:r>
              <a:rPr lang="fr-FR" dirty="0"/>
              <a:t>Garant de l’approvisionnement et la logistique et ses impératifs (Acheteuse MBI + membre Equipe foodipex appro à désigner)</a:t>
            </a:r>
          </a:p>
          <a:p>
            <a:r>
              <a:rPr lang="fr-FR" b="1" dirty="0">
                <a:solidFill>
                  <a:srgbClr val="FFC000"/>
                </a:solidFill>
              </a:rPr>
              <a:t>Finance / CDG : </a:t>
            </a:r>
            <a:r>
              <a:rPr lang="fr-FR" dirty="0"/>
              <a:t>Force de proposition dans la structure des coûts et garant du P&amp;L Projet (FK)</a:t>
            </a:r>
          </a:p>
          <a:p>
            <a:r>
              <a:rPr lang="fr-FR" b="1" dirty="0">
                <a:solidFill>
                  <a:srgbClr val="FFC000"/>
                </a:solidFill>
              </a:rPr>
              <a:t>Sales :</a:t>
            </a:r>
            <a:r>
              <a:rPr lang="fr-FR" dirty="0"/>
              <a:t> Expert en Distribution et RTM et garant des KPI d’exécution Terrain (A recruter pour les 3 projets). Potentiel de manager pour recruter son équipe par la suite</a:t>
            </a:r>
          </a:p>
          <a:p>
            <a:r>
              <a:rPr lang="fr-FR" b="1" dirty="0">
                <a:solidFill>
                  <a:srgbClr val="FFC000"/>
                </a:solidFill>
              </a:rPr>
              <a:t>MKG :</a:t>
            </a:r>
            <a:r>
              <a:rPr lang="fr-FR" dirty="0"/>
              <a:t> Expert en Mix MKG et garant de la Marque et de son territoire MH</a:t>
            </a:r>
          </a:p>
          <a:p>
            <a:r>
              <a:rPr lang="fr-FR" b="1" dirty="0">
                <a:solidFill>
                  <a:srgbClr val="FFC000"/>
                </a:solidFill>
              </a:rPr>
              <a:t>Leader: </a:t>
            </a:r>
            <a:r>
              <a:rPr lang="fr-FR" dirty="0"/>
              <a:t>Driss Lamrani</a:t>
            </a:r>
          </a:p>
          <a:p>
            <a:r>
              <a:rPr lang="fr-FR" b="1" dirty="0">
                <a:solidFill>
                  <a:srgbClr val="FFC000"/>
                </a:solidFill>
              </a:rPr>
              <a:t>Coleader : </a:t>
            </a:r>
            <a:r>
              <a:rPr lang="fr-FR" sz="2900" dirty="0"/>
              <a:t>Hervé Delajoux</a:t>
            </a:r>
          </a:p>
          <a:p>
            <a:r>
              <a:rPr lang="fr-FR" b="1" dirty="0">
                <a:solidFill>
                  <a:srgbClr val="FFC000"/>
                </a:solidFill>
              </a:rPr>
              <a:t>Sponsor: </a:t>
            </a:r>
            <a:r>
              <a:rPr lang="fr-FR" dirty="0"/>
              <a:t>Youssef LAMRANI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CCAE54A-192C-5B68-672F-E8B7B97F189D}"/>
              </a:ext>
            </a:extLst>
          </p:cNvPr>
          <p:cNvSpPr txBox="1"/>
          <p:nvPr/>
        </p:nvSpPr>
        <p:spPr>
          <a:xfrm>
            <a:off x="8490098" y="6370310"/>
            <a:ext cx="3545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« Comprendre pour mieux conseiller »</a:t>
            </a:r>
          </a:p>
        </p:txBody>
      </p:sp>
    </p:spTree>
    <p:extLst>
      <p:ext uri="{BB962C8B-B14F-4D97-AF65-F5344CB8AC3E}">
        <p14:creationId xmlns:p14="http://schemas.microsoft.com/office/powerpoint/2010/main" val="2031736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E697A-65C4-DF20-4024-497A564F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 64">
            <a:extLst>
              <a:ext uri="{FF2B5EF4-FFF2-40B4-BE49-F238E27FC236}">
                <a16:creationId xmlns:a16="http://schemas.microsoft.com/office/drawing/2014/main" id="{8D6B2ED4-FCC4-2239-062B-EB35A5804DB0}"/>
              </a:ext>
            </a:extLst>
          </p:cNvPr>
          <p:cNvSpPr>
            <a:spLocks noChangeAspect="1"/>
          </p:cNvSpPr>
          <p:nvPr/>
        </p:nvSpPr>
        <p:spPr>
          <a:xfrm>
            <a:off x="3759381" y="1551078"/>
            <a:ext cx="3755843" cy="3755843"/>
          </a:xfrm>
          <a:custGeom>
            <a:avLst/>
            <a:gdLst>
              <a:gd name="connsiteX0" fmla="*/ 244064 w 488128"/>
              <a:gd name="connsiteY0" fmla="*/ 0 h 488128"/>
              <a:gd name="connsiteX1" fmla="*/ 488128 w 488128"/>
              <a:gd name="connsiteY1" fmla="*/ 244064 h 488128"/>
              <a:gd name="connsiteX2" fmla="*/ 244064 w 488128"/>
              <a:gd name="connsiteY2" fmla="*/ 488128 h 488128"/>
              <a:gd name="connsiteX3" fmla="*/ 0 w 488128"/>
              <a:gd name="connsiteY3" fmla="*/ 244064 h 488128"/>
              <a:gd name="connsiteX4" fmla="*/ 244064 w 488128"/>
              <a:gd name="connsiteY4" fmla="*/ 0 h 48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28" h="488128">
                <a:moveTo>
                  <a:pt x="244064" y="0"/>
                </a:moveTo>
                <a:cubicBezTo>
                  <a:pt x="378857" y="0"/>
                  <a:pt x="488128" y="109271"/>
                  <a:pt x="488128" y="244064"/>
                </a:cubicBezTo>
                <a:cubicBezTo>
                  <a:pt x="488128" y="378857"/>
                  <a:pt x="378857" y="488128"/>
                  <a:pt x="244064" y="488128"/>
                </a:cubicBezTo>
                <a:cubicBezTo>
                  <a:pt x="109271" y="488128"/>
                  <a:pt x="0" y="378857"/>
                  <a:pt x="0" y="244064"/>
                </a:cubicBezTo>
                <a:cubicBezTo>
                  <a:pt x="0" y="109271"/>
                  <a:pt x="109271" y="0"/>
                  <a:pt x="244064" y="0"/>
                </a:cubicBezTo>
                <a:close/>
              </a:path>
            </a:pathLst>
          </a:cu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Projet Viennoiserie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6FFCBB5-04B3-ACFC-73D7-87A15DA714E6}"/>
              </a:ext>
            </a:extLst>
          </p:cNvPr>
          <p:cNvSpPr txBox="1"/>
          <p:nvPr/>
        </p:nvSpPr>
        <p:spPr>
          <a:xfrm>
            <a:off x="8557470" y="6448467"/>
            <a:ext cx="3545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L4A : « Listening for Advising </a:t>
            </a:r>
            <a:r>
              <a:rPr kumimoji="0" lang="fr-FR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333935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517C6-8B22-8546-5B1C-22961421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AF5E86-253D-D1ED-4DE3-3128213D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90525" indent="-390525" defTabSz="520700"/>
            <a:r>
              <a:rPr lang="fr-F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Contrat Viennoiserie: QCD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D4A252-250C-1D80-9D0C-8184FFD9E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FC000"/>
                </a:solidFill>
              </a:rPr>
              <a:t>1) Qualité: </a:t>
            </a:r>
          </a:p>
          <a:p>
            <a:r>
              <a:rPr lang="fr-FR" dirty="0"/>
              <a:t>Avoir un produit Final similaire à la viennoiserie de boulangerie «  </a:t>
            </a:r>
            <a:r>
              <a:rPr lang="fr-FR" dirty="0" err="1"/>
              <a:t>Amoud</a:t>
            </a:r>
            <a:r>
              <a:rPr lang="fr-FR" dirty="0"/>
              <a:t> / Paul»  Bench </a:t>
            </a:r>
            <a:r>
              <a:rPr lang="fr-FR" dirty="0" err="1"/>
              <a:t>Chaupain</a:t>
            </a:r>
            <a:endParaRPr lang="fr-FR" dirty="0"/>
          </a:p>
          <a:p>
            <a:r>
              <a:rPr lang="fr-FR" dirty="0"/>
              <a:t>Améliorer le temps de décongélation et de cuisson vs </a:t>
            </a:r>
            <a:r>
              <a:rPr lang="fr-FR" dirty="0" err="1"/>
              <a:t>Chaupain</a:t>
            </a:r>
            <a:endParaRPr lang="fr-FR" dirty="0"/>
          </a:p>
          <a:p>
            <a:r>
              <a:rPr lang="fr-FR" dirty="0"/>
              <a:t>Garantir la chaine de froid tout au long du processus jusqu’à l’utilisateur final</a:t>
            </a:r>
          </a:p>
          <a:p>
            <a:r>
              <a:rPr lang="fr-FR" dirty="0"/>
              <a:t>Simplifier le mode opératoire afin de garantir le top qualité produit final et se différencier vs </a:t>
            </a:r>
            <a:r>
              <a:rPr lang="fr-FR" dirty="0" err="1"/>
              <a:t>Cce</a:t>
            </a:r>
            <a:endParaRPr lang="fr-FR" dirty="0"/>
          </a:p>
          <a:p>
            <a:pPr marL="0" indent="0">
              <a:buNone/>
            </a:pPr>
            <a:r>
              <a:rPr lang="fr-FR" sz="3200" b="1" dirty="0">
                <a:solidFill>
                  <a:srgbClr val="FFC000"/>
                </a:solidFill>
              </a:rPr>
              <a:t>2) Cout:</a:t>
            </a:r>
          </a:p>
          <a:p>
            <a:r>
              <a:rPr lang="fr-FR" dirty="0"/>
              <a:t>Assurer un produit sur le marché avec au min un prix marché Iso </a:t>
            </a:r>
            <a:r>
              <a:rPr lang="fr-FR" dirty="0" err="1"/>
              <a:t>Cce</a:t>
            </a:r>
            <a:r>
              <a:rPr lang="fr-FR" dirty="0"/>
              <a:t> et une marge optimale</a:t>
            </a:r>
          </a:p>
          <a:p>
            <a:r>
              <a:rPr lang="fr-FR" dirty="0"/>
              <a:t>Assurer un approvisionnement de MP au meilleur prix marché</a:t>
            </a:r>
          </a:p>
          <a:p>
            <a:r>
              <a:rPr lang="fr-FR" dirty="0"/>
              <a:t>Définir un intervalle de marge min pour le Go du projet</a:t>
            </a:r>
          </a:p>
          <a:p>
            <a:pPr marL="0" indent="0">
              <a:buNone/>
            </a:pPr>
            <a:r>
              <a:rPr lang="fr-FR" sz="3200" b="1" dirty="0">
                <a:solidFill>
                  <a:srgbClr val="FFC000"/>
                </a:solidFill>
              </a:rPr>
              <a:t>3) Délais: </a:t>
            </a:r>
          </a:p>
          <a:p>
            <a:r>
              <a:rPr lang="fr-FR" dirty="0"/>
              <a:t>Arriver sur le marché avec la top Qualité et la meilleure marge</a:t>
            </a:r>
          </a:p>
          <a:p>
            <a:r>
              <a:rPr lang="fr-FR" dirty="0"/>
              <a:t>Définir un partenaire commercial avec et pour qui on effectue le développement ( Quid Marjane)</a:t>
            </a:r>
          </a:p>
          <a:p>
            <a:r>
              <a:rPr lang="fr-FR" dirty="0"/>
              <a:t>Q4 2026 – Q1 2027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BB6059-18C6-ACDF-B3EB-6F63C4F9FDB9}"/>
              </a:ext>
            </a:extLst>
          </p:cNvPr>
          <p:cNvSpPr txBox="1"/>
          <p:nvPr/>
        </p:nvSpPr>
        <p:spPr>
          <a:xfrm>
            <a:off x="8490098" y="6370310"/>
            <a:ext cx="3545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« Comprendre pour mieux conseiller »</a:t>
            </a:r>
          </a:p>
        </p:txBody>
      </p:sp>
    </p:spTree>
    <p:extLst>
      <p:ext uri="{BB962C8B-B14F-4D97-AF65-F5344CB8AC3E}">
        <p14:creationId xmlns:p14="http://schemas.microsoft.com/office/powerpoint/2010/main" val="686958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BF462-01D0-1449-3F10-44E9D994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025030-AF7B-1F08-E266-51E5A9FC7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90525" indent="-390525" defTabSz="520700"/>
            <a:r>
              <a:rPr lang="fr-F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Equipe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35225D-2516-3ADC-C336-91E8AB1D3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b="1" dirty="0">
                <a:solidFill>
                  <a:srgbClr val="FFC000"/>
                </a:solidFill>
              </a:rPr>
              <a:t>R&amp;D : </a:t>
            </a:r>
            <a:r>
              <a:rPr lang="fr-FR" dirty="0"/>
              <a:t>prestataire externe profil Ingénieur / Baker Orienté développement et benchmark (A recruter)</a:t>
            </a:r>
          </a:p>
          <a:p>
            <a:r>
              <a:rPr lang="fr-FR" b="1" dirty="0">
                <a:solidFill>
                  <a:srgbClr val="FFC000"/>
                </a:solidFill>
              </a:rPr>
              <a:t>Industriel : </a:t>
            </a:r>
            <a:r>
              <a:rPr lang="fr-FR" dirty="0"/>
              <a:t>Expert production (HN)</a:t>
            </a:r>
          </a:p>
          <a:p>
            <a:r>
              <a:rPr lang="fr-FR" b="1" dirty="0">
                <a:solidFill>
                  <a:srgbClr val="FFC000"/>
                </a:solidFill>
              </a:rPr>
              <a:t>Qualité : </a:t>
            </a:r>
            <a:r>
              <a:rPr lang="fr-FR" dirty="0"/>
              <a:t>Garant des process et la qualité « projet » (Qualité MBI)</a:t>
            </a:r>
          </a:p>
          <a:p>
            <a:r>
              <a:rPr lang="fr-FR" b="1" dirty="0">
                <a:solidFill>
                  <a:srgbClr val="FFC000"/>
                </a:solidFill>
              </a:rPr>
              <a:t>SC : </a:t>
            </a:r>
            <a:r>
              <a:rPr lang="fr-FR" dirty="0"/>
              <a:t>(Acheteuse MBI +ressource à récupérer chez equipe Appro </a:t>
            </a:r>
            <a:r>
              <a:rPr lang="fr-FR" dirty="0" err="1"/>
              <a:t>Fdpx</a:t>
            </a:r>
            <a:r>
              <a:rPr lang="fr-FR" dirty="0"/>
              <a:t>)</a:t>
            </a:r>
          </a:p>
          <a:p>
            <a:r>
              <a:rPr lang="fr-FR" b="1" dirty="0">
                <a:solidFill>
                  <a:srgbClr val="FFC000"/>
                </a:solidFill>
              </a:rPr>
              <a:t>Finance / CDG : </a:t>
            </a:r>
            <a:r>
              <a:rPr lang="fr-FR" dirty="0"/>
              <a:t>FK</a:t>
            </a:r>
          </a:p>
          <a:p>
            <a:r>
              <a:rPr lang="fr-FR" b="1" dirty="0">
                <a:solidFill>
                  <a:srgbClr val="FFC000"/>
                </a:solidFill>
              </a:rPr>
              <a:t>Sales : </a:t>
            </a:r>
            <a:r>
              <a:rPr lang="fr-FR" dirty="0"/>
              <a:t>Expert en Distribution et RTM et garant des KPI d’exécution Terrain (A recruter pour les 3 projets). Potentiel de manager pour recruter son équipe par la suite</a:t>
            </a:r>
          </a:p>
          <a:p>
            <a:r>
              <a:rPr lang="fr-FR" b="1" dirty="0">
                <a:solidFill>
                  <a:srgbClr val="FFC000"/>
                </a:solidFill>
              </a:rPr>
              <a:t>MKG : </a:t>
            </a:r>
            <a:r>
              <a:rPr lang="fr-FR" dirty="0"/>
              <a:t>MH</a:t>
            </a:r>
          </a:p>
          <a:p>
            <a:r>
              <a:rPr lang="fr-FR" b="1" dirty="0">
                <a:solidFill>
                  <a:srgbClr val="FFC000"/>
                </a:solidFill>
              </a:rPr>
              <a:t>Leader: </a:t>
            </a:r>
            <a:r>
              <a:rPr lang="fr-FR" dirty="0"/>
              <a:t>HN</a:t>
            </a:r>
          </a:p>
          <a:p>
            <a:r>
              <a:rPr lang="fr-FR" b="1" dirty="0">
                <a:solidFill>
                  <a:srgbClr val="FFC000"/>
                </a:solidFill>
              </a:rPr>
              <a:t>Coleader </a:t>
            </a:r>
            <a:r>
              <a:rPr lang="fr-FR" dirty="0"/>
              <a:t>HT</a:t>
            </a:r>
          </a:p>
          <a:p>
            <a:r>
              <a:rPr lang="fr-FR" b="1" dirty="0">
                <a:solidFill>
                  <a:srgbClr val="FFC000"/>
                </a:solidFill>
              </a:rPr>
              <a:t>Sponsor: </a:t>
            </a:r>
            <a:r>
              <a:rPr lang="fr-FR" dirty="0"/>
              <a:t>Malika LAMRANI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E96BED2-2A35-3A95-E86E-41C8EE4B52DB}"/>
              </a:ext>
            </a:extLst>
          </p:cNvPr>
          <p:cNvSpPr txBox="1"/>
          <p:nvPr/>
        </p:nvSpPr>
        <p:spPr>
          <a:xfrm>
            <a:off x="8490098" y="6370310"/>
            <a:ext cx="3545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« Comprendre pour mieux conseiller »</a:t>
            </a:r>
          </a:p>
        </p:txBody>
      </p:sp>
    </p:spTree>
    <p:extLst>
      <p:ext uri="{BB962C8B-B14F-4D97-AF65-F5344CB8AC3E}">
        <p14:creationId xmlns:p14="http://schemas.microsoft.com/office/powerpoint/2010/main" val="141986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9C9D9-FBBE-C136-17D2-3F3E415C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 64">
            <a:extLst>
              <a:ext uri="{FF2B5EF4-FFF2-40B4-BE49-F238E27FC236}">
                <a16:creationId xmlns:a16="http://schemas.microsoft.com/office/drawing/2014/main" id="{F8E1325C-44DD-ADA0-63C3-A94D132C1917}"/>
              </a:ext>
            </a:extLst>
          </p:cNvPr>
          <p:cNvSpPr>
            <a:spLocks noChangeAspect="1"/>
          </p:cNvSpPr>
          <p:nvPr/>
        </p:nvSpPr>
        <p:spPr>
          <a:xfrm>
            <a:off x="3759381" y="1551078"/>
            <a:ext cx="3755843" cy="3755843"/>
          </a:xfrm>
          <a:custGeom>
            <a:avLst/>
            <a:gdLst>
              <a:gd name="connsiteX0" fmla="*/ 244064 w 488128"/>
              <a:gd name="connsiteY0" fmla="*/ 0 h 488128"/>
              <a:gd name="connsiteX1" fmla="*/ 488128 w 488128"/>
              <a:gd name="connsiteY1" fmla="*/ 244064 h 488128"/>
              <a:gd name="connsiteX2" fmla="*/ 244064 w 488128"/>
              <a:gd name="connsiteY2" fmla="*/ 488128 h 488128"/>
              <a:gd name="connsiteX3" fmla="*/ 0 w 488128"/>
              <a:gd name="connsiteY3" fmla="*/ 244064 h 488128"/>
              <a:gd name="connsiteX4" fmla="*/ 244064 w 488128"/>
              <a:gd name="connsiteY4" fmla="*/ 0 h 48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28" h="488128">
                <a:moveTo>
                  <a:pt x="244064" y="0"/>
                </a:moveTo>
                <a:cubicBezTo>
                  <a:pt x="378857" y="0"/>
                  <a:pt x="488128" y="109271"/>
                  <a:pt x="488128" y="244064"/>
                </a:cubicBezTo>
                <a:cubicBezTo>
                  <a:pt x="488128" y="378857"/>
                  <a:pt x="378857" y="488128"/>
                  <a:pt x="244064" y="488128"/>
                </a:cubicBezTo>
                <a:cubicBezTo>
                  <a:pt x="109271" y="488128"/>
                  <a:pt x="0" y="378857"/>
                  <a:pt x="0" y="244064"/>
                </a:cubicBezTo>
                <a:cubicBezTo>
                  <a:pt x="0" y="109271"/>
                  <a:pt x="109271" y="0"/>
                  <a:pt x="244064" y="0"/>
                </a:cubicBezTo>
                <a:close/>
              </a:path>
            </a:pathLst>
          </a:cu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Projet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Distribution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FFC563D-C51D-3EF1-01FF-8B70B0B29B5C}"/>
              </a:ext>
            </a:extLst>
          </p:cNvPr>
          <p:cNvSpPr txBox="1"/>
          <p:nvPr/>
        </p:nvSpPr>
        <p:spPr>
          <a:xfrm>
            <a:off x="8557470" y="6448467"/>
            <a:ext cx="3545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L4A : « Listening for Advising </a:t>
            </a:r>
            <a:r>
              <a:rPr kumimoji="0" lang="fr-FR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3373775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DBAC-C72D-7795-EBCF-04464CE20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45DD3F-E14A-4163-B97F-5451BA8C7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90525" indent="-390525" defTabSz="520700"/>
            <a:r>
              <a:rPr lang="fr-F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Contrat Distribution: CDQ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FC13F6-700C-C132-BD02-2A3205FFD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514168"/>
            <a:ext cx="11562735" cy="497870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fr-FR" sz="4200" b="1" dirty="0">
                <a:solidFill>
                  <a:srgbClr val="FFC000"/>
                </a:solidFill>
              </a:rPr>
              <a:t>1) Cout:</a:t>
            </a:r>
          </a:p>
          <a:p>
            <a:r>
              <a:rPr lang="fr-FR" sz="3800" dirty="0"/>
              <a:t>Intégrer des cartes à High </a:t>
            </a:r>
            <a:r>
              <a:rPr lang="fr-FR" sz="3800" dirty="0" err="1"/>
              <a:t>Margin</a:t>
            </a:r>
            <a:r>
              <a:rPr lang="fr-FR" sz="3800" dirty="0"/>
              <a:t> ( à définir)</a:t>
            </a:r>
          </a:p>
          <a:p>
            <a:r>
              <a:rPr lang="fr-FR" sz="3800" dirty="0"/>
              <a:t>Définir un niveau de rentabilité portefeuille gamme min pour la réussite du projet</a:t>
            </a:r>
          </a:p>
          <a:p>
            <a:r>
              <a:rPr lang="fr-FR" sz="3800" dirty="0"/>
              <a:t>Optimiser les couts de distribution et d’exécution sur le marché</a:t>
            </a:r>
          </a:p>
          <a:p>
            <a:r>
              <a:rPr lang="fr-FR" sz="3800" dirty="0"/>
              <a:t>Prioriser des contrats / partenariat LT CHR</a:t>
            </a:r>
          </a:p>
          <a:p>
            <a:pPr marL="0" indent="0">
              <a:buNone/>
            </a:pPr>
            <a:r>
              <a:rPr lang="fr-FR" sz="3600" b="1" dirty="0">
                <a:solidFill>
                  <a:srgbClr val="FFC000"/>
                </a:solidFill>
              </a:rPr>
              <a:t>2) Délais: </a:t>
            </a:r>
          </a:p>
          <a:p>
            <a:r>
              <a:rPr lang="fr-FR" sz="4500" dirty="0"/>
              <a:t>Arriver sur le marché au </a:t>
            </a:r>
            <a:r>
              <a:rPr lang="fr-FR" sz="4500" dirty="0" err="1"/>
              <a:t>plutard</a:t>
            </a:r>
            <a:r>
              <a:rPr lang="fr-FR" sz="4500" dirty="0"/>
              <a:t> en même temps que la gamme de pain</a:t>
            </a:r>
          </a:p>
          <a:p>
            <a:r>
              <a:rPr lang="fr-FR" sz="4500" dirty="0"/>
              <a:t>Accepter un lancement séquencé afin d’ étoffer la gamme progressivement ( Min SL </a:t>
            </a:r>
            <a:r>
              <a:rPr lang="fr-FR" sz="4500" dirty="0" err="1"/>
              <a:t>MaxSL</a:t>
            </a:r>
            <a:r>
              <a:rPr lang="fr-FR" sz="4500" dirty="0"/>
              <a:t>)</a:t>
            </a:r>
          </a:p>
          <a:p>
            <a:r>
              <a:rPr lang="fr-FR" sz="4500" dirty="0"/>
              <a:t>Q3 2026 – Q4 2026</a:t>
            </a:r>
          </a:p>
          <a:p>
            <a:pPr marL="0" indent="0">
              <a:buNone/>
            </a:pPr>
            <a:r>
              <a:rPr lang="fr-FR" sz="4200" b="1" dirty="0">
                <a:solidFill>
                  <a:srgbClr val="FFC000"/>
                </a:solidFill>
              </a:rPr>
              <a:t>3) Qualité: </a:t>
            </a:r>
          </a:p>
          <a:p>
            <a:r>
              <a:rPr lang="fr-FR" sz="4500" dirty="0"/>
              <a:t>Avoir des cartes de produits « prémium »</a:t>
            </a:r>
          </a:p>
          <a:p>
            <a:r>
              <a:rPr lang="fr-FR" sz="4500" dirty="0"/>
              <a:t>S’imprégner de l'univers du Burger et du Bagel</a:t>
            </a:r>
          </a:p>
          <a:p>
            <a:r>
              <a:rPr lang="fr-FR" sz="4500" dirty="0"/>
              <a:t>S’associer à des fournisseurs structurés et établi à l’international</a:t>
            </a:r>
          </a:p>
          <a:p>
            <a:r>
              <a:rPr lang="fr-FR" sz="4500" dirty="0"/>
              <a:t>Accorder une importance stratégique au contrat et aux aspects juridiques qui régulent la relation</a:t>
            </a:r>
          </a:p>
          <a:p>
            <a:r>
              <a:rPr lang="fr-FR" sz="4500" dirty="0"/>
              <a:t>Former l’ensemble de la chaine aux standards d’exécution qui régissent le positionnement des cartes et de l’entreprise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78646B-E747-9C33-560B-5D18C12B6A29}"/>
              </a:ext>
            </a:extLst>
          </p:cNvPr>
          <p:cNvSpPr txBox="1"/>
          <p:nvPr/>
        </p:nvSpPr>
        <p:spPr>
          <a:xfrm>
            <a:off x="8490098" y="6370310"/>
            <a:ext cx="3545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« Comprendre pour mieux conseiller »</a:t>
            </a:r>
          </a:p>
        </p:txBody>
      </p:sp>
    </p:spTree>
    <p:extLst>
      <p:ext uri="{BB962C8B-B14F-4D97-AF65-F5344CB8AC3E}">
        <p14:creationId xmlns:p14="http://schemas.microsoft.com/office/powerpoint/2010/main" val="3381661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A01D-86BD-D017-588D-B806A2DE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10FB80-20D0-DBA4-629A-078C37C0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90525" indent="-390525" defTabSz="520700"/>
            <a:r>
              <a:rPr lang="fr-F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Equipe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A9E40A-B0B6-E7EB-CF14-6631F10CC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600" b="1" dirty="0">
                <a:solidFill>
                  <a:srgbClr val="FFC000"/>
                </a:solidFill>
              </a:rPr>
              <a:t>Qualité : </a:t>
            </a:r>
            <a:r>
              <a:rPr lang="fr-FR" dirty="0"/>
              <a:t>Garant des process et la qualité « projet » NB</a:t>
            </a:r>
          </a:p>
          <a:p>
            <a:r>
              <a:rPr lang="fr-FR" sz="2600" b="1" dirty="0">
                <a:solidFill>
                  <a:srgbClr val="FFC000"/>
                </a:solidFill>
              </a:rPr>
              <a:t>SC : </a:t>
            </a:r>
            <a:r>
              <a:rPr lang="fr-FR" dirty="0"/>
              <a:t>ressource Appro Foodipex (</a:t>
            </a:r>
            <a:r>
              <a:rPr lang="fr-FR" dirty="0" err="1"/>
              <a:t>Khansaa</a:t>
            </a:r>
            <a:r>
              <a:rPr lang="fr-FR" dirty="0"/>
              <a:t> et/ou Sanaa)</a:t>
            </a:r>
          </a:p>
          <a:p>
            <a:r>
              <a:rPr lang="fr-FR" sz="2600" b="1" dirty="0">
                <a:solidFill>
                  <a:srgbClr val="FFC000"/>
                </a:solidFill>
              </a:rPr>
              <a:t>Finance / CDG : </a:t>
            </a:r>
            <a:r>
              <a:rPr lang="fr-FR" dirty="0"/>
              <a:t>FK ou suppléant.</a:t>
            </a:r>
          </a:p>
          <a:p>
            <a:r>
              <a:rPr lang="fr-FR" sz="2600" b="1" dirty="0">
                <a:solidFill>
                  <a:srgbClr val="FFC000"/>
                </a:solidFill>
              </a:rPr>
              <a:t>Sales : </a:t>
            </a:r>
            <a:r>
              <a:rPr lang="fr-FR" dirty="0"/>
              <a:t>Expert en Distribution et RTM et garant des KPI d’exécution Terrain (A recruter pour les 3 projet +HF pour ADV</a:t>
            </a:r>
          </a:p>
          <a:p>
            <a:r>
              <a:rPr lang="fr-FR" sz="2600" b="1" dirty="0">
                <a:solidFill>
                  <a:srgbClr val="FFC000"/>
                </a:solidFill>
              </a:rPr>
              <a:t>MKG : </a:t>
            </a:r>
            <a:r>
              <a:rPr lang="fr-FR" dirty="0"/>
              <a:t>MH</a:t>
            </a:r>
          </a:p>
          <a:p>
            <a:r>
              <a:rPr lang="fr-FR" sz="2600" b="1" dirty="0">
                <a:solidFill>
                  <a:srgbClr val="FFC000"/>
                </a:solidFill>
              </a:rPr>
              <a:t>Leader: </a:t>
            </a:r>
            <a:r>
              <a:rPr lang="fr-FR" dirty="0"/>
              <a:t>Driss Lamrani</a:t>
            </a:r>
          </a:p>
          <a:p>
            <a:r>
              <a:rPr lang="fr-FR" sz="2600" b="1" dirty="0">
                <a:solidFill>
                  <a:srgbClr val="FFC000"/>
                </a:solidFill>
              </a:rPr>
              <a:t>Coleader </a:t>
            </a:r>
            <a:r>
              <a:rPr lang="fr-FR" dirty="0"/>
              <a:t>HD + HT</a:t>
            </a:r>
          </a:p>
          <a:p>
            <a:r>
              <a:rPr lang="fr-FR" sz="2600" b="1" dirty="0">
                <a:solidFill>
                  <a:srgbClr val="FFC000"/>
                </a:solidFill>
              </a:rPr>
              <a:t>Sponsor: </a:t>
            </a:r>
            <a:r>
              <a:rPr lang="fr-FR" dirty="0"/>
              <a:t>Mehdi LAMRANI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6730E14-684F-7A3C-844A-F17361899496}"/>
              </a:ext>
            </a:extLst>
          </p:cNvPr>
          <p:cNvSpPr txBox="1"/>
          <p:nvPr/>
        </p:nvSpPr>
        <p:spPr>
          <a:xfrm>
            <a:off x="8490098" y="6370310"/>
            <a:ext cx="3545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« Comprendre pour mieux conseiller »</a:t>
            </a:r>
          </a:p>
        </p:txBody>
      </p:sp>
    </p:spTree>
    <p:extLst>
      <p:ext uri="{BB962C8B-B14F-4D97-AF65-F5344CB8AC3E}">
        <p14:creationId xmlns:p14="http://schemas.microsoft.com/office/powerpoint/2010/main" val="40837157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écit Neal Creative">
  <a:themeElements>
    <a:clrScheme name="Neal Analytics 2">
      <a:dk1>
        <a:srgbClr val="000000"/>
      </a:dk1>
      <a:lt1>
        <a:srgbClr val="FFFFFF"/>
      </a:lt1>
      <a:dk2>
        <a:srgbClr val="0074AF"/>
      </a:dk2>
      <a:lt2>
        <a:srgbClr val="00B0F0"/>
      </a:lt2>
      <a:accent1>
        <a:srgbClr val="75D1FF"/>
      </a:accent1>
      <a:accent2>
        <a:srgbClr val="004568"/>
      </a:accent2>
      <a:accent3>
        <a:srgbClr val="92D050"/>
      </a:accent3>
      <a:accent4>
        <a:srgbClr val="FFC000"/>
      </a:accent4>
      <a:accent5>
        <a:srgbClr val="004568"/>
      </a:accent5>
      <a:accent6>
        <a:srgbClr val="0074AF"/>
      </a:accent6>
      <a:hlink>
        <a:srgbClr val="43C0FF"/>
      </a:hlink>
      <a:folHlink>
        <a:srgbClr val="75D1FF"/>
      </a:folHlink>
    </a:clrScheme>
    <a:fontScheme name="MICROSOF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8384581_TF16401425" id="{27535A76-25D8-4B22-9BA6-1D3FC7663589}" vid="{35AACDE3-7CF9-4B0E-AF58-84720DF7996E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5884</TotalTime>
  <Words>837</Words>
  <Application>Microsoft Office PowerPoint</Application>
  <PresentationFormat>Grand écran</PresentationFormat>
  <Paragraphs>95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26" baseType="lpstr">
      <vt:lpstr>Aptos</vt:lpstr>
      <vt:lpstr>Aptos Display</vt:lpstr>
      <vt:lpstr>Arial</vt:lpstr>
      <vt:lpstr>Arial Black</vt:lpstr>
      <vt:lpstr>Calibri</vt:lpstr>
      <vt:lpstr>Edwardian Script ITC</vt:lpstr>
      <vt:lpstr>Garamond</vt:lpstr>
      <vt:lpstr>Mark Offc For MC</vt:lpstr>
      <vt:lpstr>Segoe UI</vt:lpstr>
      <vt:lpstr>Segoe UI Black</vt:lpstr>
      <vt:lpstr>Segoe UI Semibold</vt:lpstr>
      <vt:lpstr>Segoe UI Semilight</vt:lpstr>
      <vt:lpstr>Trebuchet MS</vt:lpstr>
      <vt:lpstr>Wingdings</vt:lpstr>
      <vt:lpstr>Thème Office</vt:lpstr>
      <vt:lpstr>Récit Neal Creative</vt:lpstr>
      <vt:lpstr>Présentation PowerPoint</vt:lpstr>
      <vt:lpstr>Présentation PowerPoint</vt:lpstr>
      <vt:lpstr>Contrat Pain: DQC</vt:lpstr>
      <vt:lpstr>Equipe Projet</vt:lpstr>
      <vt:lpstr>Présentation PowerPoint</vt:lpstr>
      <vt:lpstr>Contrat Viennoiserie: QCD</vt:lpstr>
      <vt:lpstr>Equipe Projet</vt:lpstr>
      <vt:lpstr>Présentation PowerPoint</vt:lpstr>
      <vt:lpstr>Contrat Distribution: CDQ</vt:lpstr>
      <vt:lpstr>Equipe Projet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Mehdi HANSALI</dc:creator>
  <cp:lastModifiedBy>Hossein Tazi</cp:lastModifiedBy>
  <cp:revision>5</cp:revision>
  <dcterms:created xsi:type="dcterms:W3CDTF">2026-04-10T10:35:09Z</dcterms:created>
  <dcterms:modified xsi:type="dcterms:W3CDTF">2026-04-28T13:58:46Z</dcterms:modified>
</cp:coreProperties>
</file>